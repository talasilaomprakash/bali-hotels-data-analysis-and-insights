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1" r:id="rId3"/>
    <p:sldId id="291" r:id="rId4"/>
    <p:sldId id="258" r:id="rId5"/>
    <p:sldId id="259" r:id="rId6"/>
    <p:sldId id="295" r:id="rId7"/>
    <p:sldId id="294" r:id="rId8"/>
    <p:sldId id="298" r:id="rId9"/>
    <p:sldId id="297" r:id="rId10"/>
    <p:sldId id="296" r:id="rId11"/>
    <p:sldId id="293" r:id="rId12"/>
    <p:sldId id="292" r:id="rId13"/>
    <p:sldId id="299" r:id="rId14"/>
    <p:sldId id="300" r:id="rId15"/>
    <p:sldId id="301" r:id="rId16"/>
    <p:sldId id="289" r:id="rId17"/>
    <p:sldId id="290" r:id="rId18"/>
    <p:sldId id="302" r:id="rId19"/>
    <p:sldId id="286" r:id="rId20"/>
    <p:sldId id="287" r:id="rId2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B963C0-63DA-4F6A-BC19-0948EDF75045}" v="455" dt="2025-11-28T05:20:18.62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963025" y="6286500"/>
            <a:ext cx="2933699" cy="447674"/>
          </a:xfrm>
          <a:prstGeom prst="rect">
            <a:avLst/>
          </a:prstGeom>
        </p:spPr>
      </p:pic>
      <p:sp>
        <p:nvSpPr>
          <p:cNvPr id="2" name="Holder 2"/>
          <p:cNvSpPr>
            <a:spLocks noGrp="1"/>
          </p:cNvSpPr>
          <p:nvPr>
            <p:ph type="title"/>
          </p:nvPr>
        </p:nvSpPr>
        <p:spPr>
          <a:xfrm>
            <a:off x="132394" y="188966"/>
            <a:ext cx="10430490" cy="2592550"/>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684837" y="1277042"/>
            <a:ext cx="10822324" cy="421640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9868" y="-106055"/>
            <a:ext cx="11477622" cy="3432695"/>
            <a:chOff x="-124684" y="19050"/>
            <a:chExt cx="9953624" cy="3409949"/>
          </a:xfrm>
        </p:grpSpPr>
        <p:pic>
          <p:nvPicPr>
            <p:cNvPr id="3" name="object 3"/>
            <p:cNvPicPr/>
            <p:nvPr/>
          </p:nvPicPr>
          <p:blipFill>
            <a:blip r:embed="rId2" cstate="print"/>
            <a:stretch>
              <a:fillRect/>
            </a:stretch>
          </p:blipFill>
          <p:spPr>
            <a:xfrm>
              <a:off x="-124684" y="161871"/>
              <a:ext cx="9953624" cy="3152774"/>
            </a:xfrm>
            <a:prstGeom prst="rect">
              <a:avLst/>
            </a:prstGeom>
          </p:spPr>
        </p:pic>
        <p:pic>
          <p:nvPicPr>
            <p:cNvPr id="4" name="object 4"/>
            <p:cNvPicPr/>
            <p:nvPr/>
          </p:nvPicPr>
          <p:blipFill>
            <a:blip r:embed="rId3" cstate="print"/>
            <a:stretch>
              <a:fillRect/>
            </a:stretch>
          </p:blipFill>
          <p:spPr>
            <a:xfrm>
              <a:off x="2619374" y="19050"/>
              <a:ext cx="1828799" cy="3409949"/>
            </a:xfrm>
            <a:prstGeom prst="rect">
              <a:avLst/>
            </a:prstGeom>
          </p:spPr>
        </p:pic>
      </p:grpSp>
      <p:sp>
        <p:nvSpPr>
          <p:cNvPr id="5" name="object 5"/>
          <p:cNvSpPr txBox="1"/>
          <p:nvPr/>
        </p:nvSpPr>
        <p:spPr>
          <a:xfrm>
            <a:off x="1580357" y="3429327"/>
            <a:ext cx="9218277" cy="1223861"/>
          </a:xfrm>
          <a:prstGeom prst="rect">
            <a:avLst/>
          </a:prstGeom>
        </p:spPr>
        <p:txBody>
          <a:bodyPr vert="horz" wrap="square" lIns="0" tIns="8255" rIns="0" bIns="0" rtlCol="0" anchor="t">
            <a:spAutoFit/>
          </a:bodyPr>
          <a:lstStyle/>
          <a:p>
            <a:pPr marL="12700" marR="5080" algn="ctr">
              <a:lnSpc>
                <a:spcPct val="101600"/>
              </a:lnSpc>
              <a:spcBef>
                <a:spcPts val="65"/>
              </a:spcBef>
            </a:pPr>
            <a:r>
              <a:rPr lang="en" sz="4000" b="1" spc="-10" dirty="0">
                <a:solidFill>
                  <a:schemeClr val="tx1">
                    <a:lumMod val="95000"/>
                    <a:lumOff val="5000"/>
                  </a:schemeClr>
                </a:solidFill>
                <a:latin typeface="Arial"/>
                <a:cs typeface="Arial"/>
              </a:rPr>
              <a:t>Project Title: Bali Hotel's Data Analysis and insights</a:t>
            </a:r>
          </a:p>
        </p:txBody>
      </p:sp>
      <p:sp>
        <p:nvSpPr>
          <p:cNvPr id="6" name="TextBox 5">
            <a:extLst>
              <a:ext uri="{FF2B5EF4-FFF2-40B4-BE49-F238E27FC236}">
                <a16:creationId xmlns:a16="http://schemas.microsoft.com/office/drawing/2014/main" id="{513E7FD7-C4DC-21EE-A0FB-CDCD371A8725}"/>
              </a:ext>
            </a:extLst>
          </p:cNvPr>
          <p:cNvSpPr txBox="1"/>
          <p:nvPr/>
        </p:nvSpPr>
        <p:spPr>
          <a:xfrm>
            <a:off x="7608626" y="4941627"/>
            <a:ext cx="4162567"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latin typeface="Arial"/>
                <a:cs typeface="Arial"/>
              </a:rPr>
              <a:t>BY: </a:t>
            </a:r>
            <a:endParaRPr lang="en-US" sz="2000" b="1">
              <a:solidFill>
                <a:srgbClr val="000000"/>
              </a:solidFill>
              <a:latin typeface="Arial"/>
              <a:cs typeface="Arial"/>
            </a:endParaRPr>
          </a:p>
          <a:p>
            <a:pPr algn="ctr"/>
            <a:r>
              <a:rPr lang="en-US" sz="2000" b="1" dirty="0">
                <a:latin typeface="Arial"/>
                <a:cs typeface="Arial"/>
              </a:rPr>
              <a:t>Talasila Omprakash</a:t>
            </a:r>
          </a:p>
          <a:p>
            <a:pPr algn="ctr"/>
            <a:r>
              <a:rPr lang="en-US" sz="2000" b="1" dirty="0">
                <a:latin typeface="Arial"/>
                <a:cs typeface="Arial"/>
              </a:rPr>
              <a:t>Batch:422</a:t>
            </a:r>
          </a:p>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2991230"/>
            <a:ext cx="314325" cy="419100"/>
            <a:chOff x="0" y="2991230"/>
            <a:chExt cx="314325" cy="419100"/>
          </a:xfrm>
        </p:grpSpPr>
        <p:pic>
          <p:nvPicPr>
            <p:cNvPr id="3" name="object 3"/>
            <p:cNvPicPr/>
            <p:nvPr/>
          </p:nvPicPr>
          <p:blipFill>
            <a:blip r:embed="rId2" cstate="print"/>
            <a:stretch>
              <a:fillRect/>
            </a:stretch>
          </p:blipFill>
          <p:spPr>
            <a:xfrm>
              <a:off x="66675" y="3057524"/>
              <a:ext cx="161924" cy="133349"/>
            </a:xfrm>
            <a:prstGeom prst="rect">
              <a:avLst/>
            </a:prstGeom>
          </p:spPr>
        </p:pic>
        <p:pic>
          <p:nvPicPr>
            <p:cNvPr id="4" name="object 4"/>
            <p:cNvPicPr/>
            <p:nvPr/>
          </p:nvPicPr>
          <p:blipFill>
            <a:blip r:embed="rId3" cstate="print"/>
            <a:stretch>
              <a:fillRect/>
            </a:stretch>
          </p:blipFill>
          <p:spPr>
            <a:xfrm>
              <a:off x="0" y="2991230"/>
              <a:ext cx="314324" cy="419099"/>
            </a:xfrm>
            <a:prstGeom prst="rect">
              <a:avLst/>
            </a:prstGeom>
          </p:spPr>
        </p:pic>
      </p:grpSp>
      <p:pic>
        <p:nvPicPr>
          <p:cNvPr id="5" name="object 5"/>
          <p:cNvPicPr/>
          <p:nvPr/>
        </p:nvPicPr>
        <p:blipFill>
          <a:blip r:embed="rId4" cstate="print"/>
          <a:stretch>
            <a:fillRect/>
          </a:stretch>
        </p:blipFill>
        <p:spPr>
          <a:xfrm>
            <a:off x="3495675" y="3152775"/>
            <a:ext cx="942974" cy="85724"/>
          </a:xfrm>
          <a:prstGeom prst="rect">
            <a:avLst/>
          </a:prstGeom>
        </p:spPr>
      </p:pic>
      <p:sp>
        <p:nvSpPr>
          <p:cNvPr id="7" name="object 7"/>
          <p:cNvSpPr txBox="1">
            <a:spLocks noGrp="1"/>
          </p:cNvSpPr>
          <p:nvPr>
            <p:ph type="title"/>
          </p:nvPr>
        </p:nvSpPr>
        <p:spPr>
          <a:xfrm>
            <a:off x="783904" y="785107"/>
            <a:ext cx="3898900" cy="518159"/>
          </a:xfrm>
          <a:prstGeom prst="rect">
            <a:avLst/>
          </a:prstGeom>
        </p:spPr>
        <p:txBody>
          <a:bodyPr vert="horz" wrap="square" lIns="0" tIns="16510" rIns="0" bIns="0" rtlCol="0">
            <a:spAutoFit/>
          </a:bodyPr>
          <a:lstStyle/>
          <a:p>
            <a:pPr marL="12700">
              <a:lnSpc>
                <a:spcPct val="100000"/>
              </a:lnSpc>
              <a:spcBef>
                <a:spcPts val="130"/>
              </a:spcBef>
            </a:pPr>
            <a:r>
              <a:rPr sz="3200" dirty="0">
                <a:latin typeface="Arial"/>
                <a:cs typeface="Arial"/>
              </a:rPr>
              <a:t>Problem</a:t>
            </a:r>
            <a:r>
              <a:rPr sz="3200" spc="40" dirty="0">
                <a:latin typeface="Arial"/>
                <a:cs typeface="Arial"/>
              </a:rPr>
              <a:t> </a:t>
            </a:r>
            <a:r>
              <a:rPr sz="3200" spc="-10" dirty="0">
                <a:latin typeface="Arial"/>
                <a:cs typeface="Arial"/>
              </a:rPr>
              <a:t>Statement:</a:t>
            </a:r>
            <a:endParaRPr sz="3200">
              <a:latin typeface="Arial"/>
              <a:cs typeface="Arial"/>
            </a:endParaRPr>
          </a:p>
        </p:txBody>
      </p:sp>
      <p:sp>
        <p:nvSpPr>
          <p:cNvPr id="8" name="object 8"/>
          <p:cNvSpPr txBox="1"/>
          <p:nvPr/>
        </p:nvSpPr>
        <p:spPr>
          <a:xfrm>
            <a:off x="753102" y="1225738"/>
            <a:ext cx="10932299" cy="2142894"/>
          </a:xfrm>
          <a:prstGeom prst="rect">
            <a:avLst/>
          </a:prstGeom>
        </p:spPr>
        <p:txBody>
          <a:bodyPr vert="horz" wrap="square" lIns="0" tIns="12700" rIns="0" bIns="0" rtlCol="0" anchor="ctr">
            <a:spAutoFit/>
          </a:bodyPr>
          <a:lstStyle/>
          <a:p>
            <a:pPr algn="just">
              <a:lnSpc>
                <a:spcPct val="200000"/>
              </a:lnSpc>
            </a:pPr>
            <a:r>
              <a:rPr lang="en-US" spc="-10" dirty="0"/>
              <a:t>Hotels in Bali receive thousands of visitors every year, but identifying how factors like price, location, ratings, and reviews influence customer choice remains challenging. Without proper analysis, it becomes difficult for hotel owners and travel platforms to understand customer preferences and market trends. This project analyzes Bali hotel data to uncover key patterns that impact hotel performance and customer satisfaction.</a:t>
            </a:r>
            <a:endParaRPr lang="en-US" dirty="0"/>
          </a:p>
        </p:txBody>
      </p:sp>
      <p:sp>
        <p:nvSpPr>
          <p:cNvPr id="6" name="TextBox 5">
            <a:extLst>
              <a:ext uri="{FF2B5EF4-FFF2-40B4-BE49-F238E27FC236}">
                <a16:creationId xmlns:a16="http://schemas.microsoft.com/office/drawing/2014/main" id="{97428C69-60C7-4A69-0D62-7E5580A16279}"/>
              </a:ext>
            </a:extLst>
          </p:cNvPr>
          <p:cNvSpPr txBox="1"/>
          <p:nvPr/>
        </p:nvSpPr>
        <p:spPr>
          <a:xfrm>
            <a:off x="761999" y="3860321"/>
            <a:ext cx="10207925"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Project Goal</a:t>
            </a:r>
          </a:p>
          <a:p>
            <a:r>
              <a:rPr lang="en-US" dirty="0"/>
              <a:t>The goal of this project is to analyze Bali hotel data through web scraping and exploratory data analysis (EDA) to understand how hotel pricing, ratings, reviews, and locations influence customer decisions. The project aims to extract meaningful insights that can help improve hotel marketing strategies, pricing models, and overall service quality.</a:t>
            </a:r>
          </a:p>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E1284-85B9-DC0A-AEE5-2728CFB5CF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46BAD0-059D-4D29-6D43-F75EB7A061A3}"/>
              </a:ext>
            </a:extLst>
          </p:cNvPr>
          <p:cNvSpPr txBox="1"/>
          <p:nvPr/>
        </p:nvSpPr>
        <p:spPr>
          <a:xfrm>
            <a:off x="1035170" y="539151"/>
            <a:ext cx="8842075"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 Objectives of the Project</a:t>
            </a:r>
          </a:p>
          <a:p>
            <a:pPr marL="228600" indent="-228600">
              <a:buFont typeface=""/>
              <a:buChar char="•"/>
            </a:pPr>
            <a:r>
              <a:rPr lang="en-US"/>
              <a:t>To analyze the relationship between hotel prices and customer ratings in Bali.</a:t>
            </a:r>
          </a:p>
          <a:p>
            <a:pPr marL="228600" indent="-228600">
              <a:buFont typeface=""/>
              <a:buChar char="•"/>
            </a:pPr>
            <a:r>
              <a:rPr lang="en-US"/>
              <a:t>To study how location influences hotel pricing and popularity.</a:t>
            </a:r>
          </a:p>
          <a:p>
            <a:pPr marL="228600" indent="-228600">
              <a:buFont typeface=""/>
              <a:buChar char="•"/>
            </a:pPr>
            <a:r>
              <a:rPr lang="en-US"/>
              <a:t>To identify the most preferred hotel categories based on customer ratings and reviews.</a:t>
            </a:r>
          </a:p>
          <a:p>
            <a:pPr marL="228600" indent="-228600">
              <a:buFont typeface=""/>
              <a:buChar char="•"/>
            </a:pPr>
            <a:r>
              <a:rPr lang="en-US"/>
              <a:t>To understand pricing trends and detect outliers through statistical analysis.</a:t>
            </a:r>
          </a:p>
          <a:p>
            <a:pPr marL="228600" indent="-228600">
              <a:buFont typeface=""/>
              <a:buChar char="•"/>
            </a:pPr>
            <a:r>
              <a:rPr lang="en-US"/>
              <a:t>To extract meaningful patterns using visualizations for better decision-making.</a:t>
            </a:r>
          </a:p>
          <a:p>
            <a:pPr marL="228600" indent="-228600">
              <a:buFont typeface=""/>
              <a:buChar char="•"/>
            </a:pPr>
            <a:r>
              <a:rPr lang="en-US"/>
              <a:t>To provide actionable insights that can help improve hotel marketing, pricing, and service strategies.</a:t>
            </a:r>
          </a:p>
          <a:p>
            <a:pPr algn="ctr"/>
            <a:endParaRPr lang="en-US"/>
          </a:p>
        </p:txBody>
      </p:sp>
    </p:spTree>
    <p:extLst>
      <p:ext uri="{BB962C8B-B14F-4D97-AF65-F5344CB8AC3E}">
        <p14:creationId xmlns:p14="http://schemas.microsoft.com/office/powerpoint/2010/main" val="3589657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E758BF-7491-4E1D-80ED-07EC50B325B1}"/>
              </a:ext>
            </a:extLst>
          </p:cNvPr>
          <p:cNvSpPr>
            <a:spLocks noGrp="1"/>
          </p:cNvSpPr>
          <p:nvPr>
            <p:ph type="title"/>
          </p:nvPr>
        </p:nvSpPr>
        <p:spPr>
          <a:xfrm>
            <a:off x="477451" y="490890"/>
            <a:ext cx="8992754" cy="3693319"/>
          </a:xfrm>
        </p:spPr>
        <p:txBody>
          <a:bodyPr wrap="square" lIns="0" tIns="0" rIns="0" bIns="0" anchor="t">
            <a:spAutoFit/>
          </a:bodyPr>
          <a:lstStyle/>
          <a:p>
            <a:pPr algn="l"/>
            <a:r>
              <a:rPr lang="en-US" dirty="0"/>
              <a:t>Web Scraping Process:</a:t>
            </a:r>
          </a:p>
          <a:p>
            <a:pPr marL="285750" indent="-285750" algn="l">
              <a:buFont typeface="Arial"/>
              <a:buChar char="•"/>
            </a:pPr>
            <a:r>
              <a:rPr lang="en-US" dirty="0"/>
              <a:t>Selected Website</a:t>
            </a:r>
            <a:r>
              <a:rPr lang="en-US" b="0" dirty="0"/>
              <a:t> – Collected Bali hotel data from a travel website containing hotel listings, prices, ratings, reviews, and locations.</a:t>
            </a:r>
            <a:endParaRPr lang="en-US" dirty="0"/>
          </a:p>
          <a:p>
            <a:pPr marL="285750" indent="-285750" algn="l">
              <a:buFont typeface="Arial"/>
              <a:buChar char="•"/>
            </a:pPr>
            <a:r>
              <a:rPr lang="en-US" dirty="0"/>
              <a:t>Checked Website Structure</a:t>
            </a:r>
            <a:r>
              <a:rPr lang="en-US" b="0" dirty="0"/>
              <a:t> – Inspected HTML elements to locate hotel name, price per night, rating, location, and review count.</a:t>
            </a:r>
            <a:endParaRPr lang="en-US" dirty="0"/>
          </a:p>
          <a:p>
            <a:pPr marL="285750" indent="-285750" algn="l">
              <a:buFont typeface="Arial"/>
              <a:buChar char="•"/>
            </a:pPr>
            <a:r>
              <a:rPr lang="en-US" dirty="0"/>
              <a:t>Scraped Data</a:t>
            </a:r>
            <a:r>
              <a:rPr lang="en-US" b="0" dirty="0"/>
              <a:t> – Used </a:t>
            </a:r>
            <a:r>
              <a:rPr lang="en-US" dirty="0" err="1"/>
              <a:t>BeautifulSoup</a:t>
            </a:r>
            <a:r>
              <a:rPr lang="en-US" b="0" dirty="0"/>
              <a:t> and </a:t>
            </a:r>
            <a:r>
              <a:rPr lang="en-US" dirty="0"/>
              <a:t>Requests</a:t>
            </a:r>
            <a:r>
              <a:rPr lang="en-US" b="0" dirty="0"/>
              <a:t> to extract hotel information from multiple pages.</a:t>
            </a:r>
            <a:endParaRPr lang="en-US" dirty="0"/>
          </a:p>
          <a:p>
            <a:pPr marL="285750" indent="-285750" algn="l">
              <a:buFont typeface="Arial"/>
              <a:buChar char="•"/>
            </a:pPr>
            <a:r>
              <a:rPr lang="en-US" dirty="0"/>
              <a:t>Stored Data</a:t>
            </a:r>
            <a:r>
              <a:rPr lang="en-US" b="0" dirty="0"/>
              <a:t> – Saved extracted details in a </a:t>
            </a:r>
            <a:r>
              <a:rPr lang="en-US" dirty="0"/>
              <a:t>Pandas </a:t>
            </a:r>
            <a:r>
              <a:rPr lang="en-US" dirty="0" err="1"/>
              <a:t>DataFrame</a:t>
            </a:r>
            <a:r>
              <a:rPr lang="en-US" b="0" dirty="0"/>
              <a:t> for further processing.</a:t>
            </a:r>
            <a:endParaRPr lang="en-US" dirty="0"/>
          </a:p>
          <a:p>
            <a:pPr marL="285750" indent="-285750" algn="l">
              <a:buFont typeface="Arial"/>
              <a:buChar char="•"/>
            </a:pPr>
            <a:r>
              <a:rPr lang="en-US" dirty="0"/>
              <a:t>Cleaned Data</a:t>
            </a:r>
            <a:r>
              <a:rPr lang="en-US" b="0" dirty="0"/>
              <a:t> – Removed duplicates, handled missing values, formatted price fields, and standardized text data for </a:t>
            </a:r>
            <a:r>
              <a:rPr lang="en-US" dirty="0"/>
              <a:t>EDA</a:t>
            </a:r>
            <a:r>
              <a:rPr lang="en-US" b="0" dirty="0"/>
              <a:t>.</a:t>
            </a: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program&#10;&#10;AI-generated content may be incorrect.">
            <a:extLst>
              <a:ext uri="{FF2B5EF4-FFF2-40B4-BE49-F238E27FC236}">
                <a16:creationId xmlns:a16="http://schemas.microsoft.com/office/drawing/2014/main" id="{8A47AA14-73AE-921B-2328-37B72E7A487B}"/>
              </a:ext>
            </a:extLst>
          </p:cNvPr>
          <p:cNvPicPr>
            <a:picLocks noChangeAspect="1"/>
          </p:cNvPicPr>
          <p:nvPr/>
        </p:nvPicPr>
        <p:blipFill>
          <a:blip r:embed="rId2"/>
          <a:stretch>
            <a:fillRect/>
          </a:stretch>
        </p:blipFill>
        <p:spPr>
          <a:xfrm>
            <a:off x="190500" y="805141"/>
            <a:ext cx="3843618" cy="5931273"/>
          </a:xfrm>
          <a:prstGeom prst="rect">
            <a:avLst/>
          </a:prstGeom>
        </p:spPr>
      </p:pic>
      <p:pic>
        <p:nvPicPr>
          <p:cNvPr id="3" name="Picture 2" descr="A screenshot of a computer program&#10;&#10;AI-generated content may be incorrect.">
            <a:extLst>
              <a:ext uri="{FF2B5EF4-FFF2-40B4-BE49-F238E27FC236}">
                <a16:creationId xmlns:a16="http://schemas.microsoft.com/office/drawing/2014/main" id="{F5E7CE04-2DF2-BA15-BE02-9CB7B771F27B}"/>
              </a:ext>
            </a:extLst>
          </p:cNvPr>
          <p:cNvPicPr>
            <a:picLocks noChangeAspect="1"/>
          </p:cNvPicPr>
          <p:nvPr/>
        </p:nvPicPr>
        <p:blipFill>
          <a:blip r:embed="rId3"/>
          <a:stretch>
            <a:fillRect/>
          </a:stretch>
        </p:blipFill>
        <p:spPr>
          <a:xfrm>
            <a:off x="4038039" y="809344"/>
            <a:ext cx="3824568" cy="5922869"/>
          </a:xfrm>
          <a:prstGeom prst="rect">
            <a:avLst/>
          </a:prstGeom>
        </p:spPr>
      </p:pic>
      <p:pic>
        <p:nvPicPr>
          <p:cNvPr id="4" name="Picture 3" descr="A screenshot of a computer program&#10;&#10;AI-generated content may be incorrect.">
            <a:extLst>
              <a:ext uri="{FF2B5EF4-FFF2-40B4-BE49-F238E27FC236}">
                <a16:creationId xmlns:a16="http://schemas.microsoft.com/office/drawing/2014/main" id="{131B2910-E497-09F5-9CD4-5B3110D5A371}"/>
              </a:ext>
            </a:extLst>
          </p:cNvPr>
          <p:cNvPicPr>
            <a:picLocks noChangeAspect="1"/>
          </p:cNvPicPr>
          <p:nvPr/>
        </p:nvPicPr>
        <p:blipFill>
          <a:blip r:embed="rId4"/>
          <a:stretch>
            <a:fillRect/>
          </a:stretch>
        </p:blipFill>
        <p:spPr>
          <a:xfrm>
            <a:off x="7867278" y="806822"/>
            <a:ext cx="4099854" cy="5927914"/>
          </a:xfrm>
          <a:prstGeom prst="rect">
            <a:avLst/>
          </a:prstGeom>
        </p:spPr>
      </p:pic>
      <p:sp>
        <p:nvSpPr>
          <p:cNvPr id="5" name="TextBox 4">
            <a:extLst>
              <a:ext uri="{FF2B5EF4-FFF2-40B4-BE49-F238E27FC236}">
                <a16:creationId xmlns:a16="http://schemas.microsoft.com/office/drawing/2014/main" id="{4C4F6924-8FE9-12C8-D788-02CDDEB28B81}"/>
              </a:ext>
            </a:extLst>
          </p:cNvPr>
          <p:cNvSpPr txBox="1"/>
          <p:nvPr/>
        </p:nvSpPr>
        <p:spPr>
          <a:xfrm>
            <a:off x="190500" y="257735"/>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web scraping for data:</a:t>
            </a:r>
          </a:p>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82F30-009B-16F4-6AB0-2C7B96DAF32B}"/>
            </a:ext>
          </a:extLst>
        </p:cNvPr>
        <p:cNvGrpSpPr/>
        <p:nvPr/>
      </p:nvGrpSpPr>
      <p:grpSpPr>
        <a:xfrm>
          <a:off x="0" y="0"/>
          <a:ext cx="0" cy="0"/>
          <a:chOff x="0" y="0"/>
          <a:chExt cx="0" cy="0"/>
        </a:xfrm>
      </p:grpSpPr>
      <p:pic>
        <p:nvPicPr>
          <p:cNvPr id="2" name="Picture 1" descr="A computer screen shot of a hotel&#10;&#10;AI-generated content may be incorrect.">
            <a:extLst>
              <a:ext uri="{FF2B5EF4-FFF2-40B4-BE49-F238E27FC236}">
                <a16:creationId xmlns:a16="http://schemas.microsoft.com/office/drawing/2014/main" id="{1AD3728F-C5B1-7105-0FF5-A0DAD1CDA22D}"/>
              </a:ext>
            </a:extLst>
          </p:cNvPr>
          <p:cNvPicPr>
            <a:picLocks noChangeAspect="1"/>
          </p:cNvPicPr>
          <p:nvPr/>
        </p:nvPicPr>
        <p:blipFill>
          <a:blip r:embed="rId2"/>
          <a:srcRect t="247" r="19351" b="33"/>
          <a:stretch>
            <a:fillRect/>
          </a:stretch>
        </p:blipFill>
        <p:spPr>
          <a:xfrm>
            <a:off x="-1976" y="892228"/>
            <a:ext cx="5638426" cy="5579329"/>
          </a:xfrm>
          <a:prstGeom prst="rect">
            <a:avLst/>
          </a:prstGeom>
        </p:spPr>
      </p:pic>
      <p:pic>
        <p:nvPicPr>
          <p:cNvPr id="3" name="Picture 2" descr="A screenshot of a hotel list&#10;&#10;AI-generated content may be incorrect.">
            <a:extLst>
              <a:ext uri="{FF2B5EF4-FFF2-40B4-BE49-F238E27FC236}">
                <a16:creationId xmlns:a16="http://schemas.microsoft.com/office/drawing/2014/main" id="{A5F0F37A-1A80-D938-69ED-D3BD55842D90}"/>
              </a:ext>
            </a:extLst>
          </p:cNvPr>
          <p:cNvPicPr>
            <a:picLocks noChangeAspect="1"/>
          </p:cNvPicPr>
          <p:nvPr/>
        </p:nvPicPr>
        <p:blipFill>
          <a:blip r:embed="rId3"/>
          <a:stretch>
            <a:fillRect/>
          </a:stretch>
        </p:blipFill>
        <p:spPr>
          <a:xfrm>
            <a:off x="5904638" y="893670"/>
            <a:ext cx="6172783" cy="5882136"/>
          </a:xfrm>
          <a:prstGeom prst="rect">
            <a:avLst/>
          </a:prstGeom>
        </p:spPr>
      </p:pic>
      <p:sp>
        <p:nvSpPr>
          <p:cNvPr id="4" name="TextBox 3">
            <a:extLst>
              <a:ext uri="{FF2B5EF4-FFF2-40B4-BE49-F238E27FC236}">
                <a16:creationId xmlns:a16="http://schemas.microsoft.com/office/drawing/2014/main" id="{CF9671B8-43F0-4E2A-62ED-64D2E151124A}"/>
              </a:ext>
            </a:extLst>
          </p:cNvPr>
          <p:cNvSpPr txBox="1"/>
          <p:nvPr/>
        </p:nvSpPr>
        <p:spPr>
          <a:xfrm>
            <a:off x="112059" y="302558"/>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dirty="0"/>
              <a:t>Extracting data:</a:t>
            </a:r>
          </a:p>
          <a:p>
            <a:pPr algn="ctr"/>
            <a:endParaRPr lang="en-US"/>
          </a:p>
        </p:txBody>
      </p:sp>
      <p:sp>
        <p:nvSpPr>
          <p:cNvPr id="5" name="TextBox 4">
            <a:extLst>
              <a:ext uri="{FF2B5EF4-FFF2-40B4-BE49-F238E27FC236}">
                <a16:creationId xmlns:a16="http://schemas.microsoft.com/office/drawing/2014/main" id="{CC7BA79F-5ECB-FA2F-EC10-C4BF981F3467}"/>
              </a:ext>
            </a:extLst>
          </p:cNvPr>
          <p:cNvSpPr txBox="1"/>
          <p:nvPr/>
        </p:nvSpPr>
        <p:spPr>
          <a:xfrm>
            <a:off x="5771030" y="313765"/>
            <a:ext cx="629770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dirty="0"/>
              <a:t>DATASET:</a:t>
            </a:r>
          </a:p>
          <a:p>
            <a:pPr algn="ctr"/>
            <a:endParaRPr lang="en-US"/>
          </a:p>
        </p:txBody>
      </p:sp>
    </p:spTree>
    <p:extLst>
      <p:ext uri="{BB962C8B-B14F-4D97-AF65-F5344CB8AC3E}">
        <p14:creationId xmlns:p14="http://schemas.microsoft.com/office/powerpoint/2010/main" val="1724534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7EB20-EDB6-A054-A6CF-71985C15EDF3}"/>
            </a:ext>
          </a:extLst>
        </p:cNvPr>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21A3C217-A098-60C4-5F5C-F725918536F6}"/>
              </a:ext>
            </a:extLst>
          </p:cNvPr>
          <p:cNvPicPr>
            <a:picLocks noChangeAspect="1"/>
          </p:cNvPicPr>
          <p:nvPr/>
        </p:nvPicPr>
        <p:blipFill>
          <a:blip r:embed="rId2"/>
          <a:stretch>
            <a:fillRect/>
          </a:stretch>
        </p:blipFill>
        <p:spPr>
          <a:xfrm>
            <a:off x="347663" y="1061678"/>
            <a:ext cx="5400675" cy="5007813"/>
          </a:xfrm>
          <a:prstGeom prst="rect">
            <a:avLst/>
          </a:prstGeom>
        </p:spPr>
      </p:pic>
      <p:sp>
        <p:nvSpPr>
          <p:cNvPr id="4" name="TextBox 3">
            <a:extLst>
              <a:ext uri="{FF2B5EF4-FFF2-40B4-BE49-F238E27FC236}">
                <a16:creationId xmlns:a16="http://schemas.microsoft.com/office/drawing/2014/main" id="{40D80448-6771-23AB-C54D-41CC6440ABF6}"/>
              </a:ext>
            </a:extLst>
          </p:cNvPr>
          <p:cNvSpPr txBox="1"/>
          <p:nvPr/>
        </p:nvSpPr>
        <p:spPr>
          <a:xfrm>
            <a:off x="345057" y="639792"/>
            <a:ext cx="6096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dirty="0"/>
              <a:t>DATA SUMMARY :</a:t>
            </a:r>
            <a:endParaRPr lang="en-US" sz="2400" b="1" u="sng" dirty="0">
              <a:solidFill>
                <a:srgbClr val="000000"/>
              </a:solidFill>
            </a:endParaRPr>
          </a:p>
          <a:p>
            <a:pPr algn="ctr"/>
            <a:endParaRPr lang="en-US" sz="2400" b="1" dirty="0"/>
          </a:p>
        </p:txBody>
      </p:sp>
      <p:pic>
        <p:nvPicPr>
          <p:cNvPr id="5" name="Picture 4" descr="A table with numbers and text&#10;&#10;AI-generated content may be incorrect.">
            <a:extLst>
              <a:ext uri="{FF2B5EF4-FFF2-40B4-BE49-F238E27FC236}">
                <a16:creationId xmlns:a16="http://schemas.microsoft.com/office/drawing/2014/main" id="{97EFC37E-FCB3-6787-B5B2-6899F75A7187}"/>
              </a:ext>
            </a:extLst>
          </p:cNvPr>
          <p:cNvPicPr>
            <a:picLocks noChangeAspect="1"/>
          </p:cNvPicPr>
          <p:nvPr/>
        </p:nvPicPr>
        <p:blipFill>
          <a:blip r:embed="rId3"/>
          <a:stretch>
            <a:fillRect/>
          </a:stretch>
        </p:blipFill>
        <p:spPr>
          <a:xfrm>
            <a:off x="6102920" y="1062127"/>
            <a:ext cx="5607708" cy="5021292"/>
          </a:xfrm>
          <a:prstGeom prst="rect">
            <a:avLst/>
          </a:prstGeom>
        </p:spPr>
      </p:pic>
    </p:spTree>
    <p:extLst>
      <p:ext uri="{BB962C8B-B14F-4D97-AF65-F5344CB8AC3E}">
        <p14:creationId xmlns:p14="http://schemas.microsoft.com/office/powerpoint/2010/main" val="4123757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9CFDD-AE53-6998-2A19-17B9D0D9001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584E24A-8ABD-784E-7052-27E56F8EE2E8}"/>
              </a:ext>
            </a:extLst>
          </p:cNvPr>
          <p:cNvSpPr txBox="1"/>
          <p:nvPr/>
        </p:nvSpPr>
        <p:spPr>
          <a:xfrm>
            <a:off x="589472" y="769189"/>
            <a:ext cx="10495471"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Data Cleaning:</a:t>
            </a:r>
          </a:p>
          <a:p>
            <a:pPr marL="228600" indent="-228600">
              <a:buFont typeface=""/>
              <a:buChar char="•"/>
            </a:pPr>
            <a:r>
              <a:rPr lang="en-US" b="1"/>
              <a:t>Handled Missing Values</a:t>
            </a:r>
            <a:r>
              <a:rPr lang="en-US"/>
              <a:t> – Filled or removed null values in columns such as </a:t>
            </a:r>
            <a:r>
              <a:rPr lang="en-US" i="1"/>
              <a:t>price</a:t>
            </a:r>
            <a:r>
              <a:rPr lang="en-US"/>
              <a:t>, </a:t>
            </a:r>
            <a:r>
              <a:rPr lang="en-US" i="1"/>
              <a:t>rating</a:t>
            </a:r>
            <a:r>
              <a:rPr lang="en-US"/>
              <a:t>, and </a:t>
            </a:r>
            <a:r>
              <a:rPr lang="en-US" i="1"/>
              <a:t>reviews</a:t>
            </a:r>
            <a:r>
              <a:rPr lang="en-US"/>
              <a:t> to ensure completeness.</a:t>
            </a:r>
          </a:p>
          <a:p>
            <a:pPr marL="228600" indent="-228600">
              <a:buFont typeface=""/>
              <a:buChar char="•"/>
            </a:pPr>
            <a:r>
              <a:rPr lang="en-US" b="1"/>
              <a:t>Removed Duplicates</a:t>
            </a:r>
            <a:r>
              <a:rPr lang="en-US"/>
              <a:t> – Identified and deleted repeated hotel entries to maintain accurate and unique records.</a:t>
            </a:r>
          </a:p>
          <a:p>
            <a:pPr marL="228600" indent="-228600">
              <a:buFont typeface=""/>
              <a:buChar char="•"/>
            </a:pPr>
            <a:r>
              <a:rPr lang="en-US" b="1"/>
              <a:t>Standardized Text Data</a:t>
            </a:r>
            <a:r>
              <a:rPr lang="en-US"/>
              <a:t> – Cleaned and formatted hotel names, locations, and categories (fixed casing, removed extra spaces).</a:t>
            </a:r>
          </a:p>
          <a:p>
            <a:pPr marL="228600" indent="-228600">
              <a:buFont typeface=""/>
              <a:buChar char="•"/>
            </a:pPr>
            <a:r>
              <a:rPr lang="en-US" b="1"/>
              <a:t>Converted Data Types</a:t>
            </a:r>
            <a:r>
              <a:rPr lang="en-US"/>
              <a:t> – Transformed price data into numeric format and ensured ratings/reviews were in proper types.</a:t>
            </a:r>
          </a:p>
          <a:p>
            <a:pPr marL="228600" indent="-228600">
              <a:buFont typeface=""/>
              <a:buChar char="•"/>
            </a:pPr>
            <a:r>
              <a:rPr lang="en-US" b="1"/>
              <a:t>Dropped Irrelevant Columns</a:t>
            </a:r>
            <a:r>
              <a:rPr lang="en-US"/>
              <a:t> – Removed unnecessary fields that were not required for analysis.</a:t>
            </a:r>
          </a:p>
          <a:p>
            <a:pPr marL="228600" indent="-228600">
              <a:buFont typeface=""/>
              <a:buChar char="•"/>
            </a:pPr>
            <a:r>
              <a:rPr lang="en-US" b="1"/>
              <a:t>Ensured Consistency</a:t>
            </a:r>
            <a:r>
              <a:rPr lang="en-US"/>
              <a:t> – Standardized currency formats, corrected special characters, and aligned all values for reliable </a:t>
            </a:r>
            <a:r>
              <a:rPr lang="en-US" b="1"/>
              <a:t>EDA</a:t>
            </a:r>
            <a:r>
              <a:rPr lang="en-US"/>
              <a:t>.</a:t>
            </a:r>
          </a:p>
          <a:p>
            <a:pPr algn="ctr"/>
            <a:endParaRPr lang="en-US"/>
          </a:p>
        </p:txBody>
      </p:sp>
    </p:spTree>
    <p:extLst>
      <p:ext uri="{BB962C8B-B14F-4D97-AF65-F5344CB8AC3E}">
        <p14:creationId xmlns:p14="http://schemas.microsoft.com/office/powerpoint/2010/main" val="1905578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E43A6-BDA2-981B-B1C9-10EB39861AF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2CF8AE-5E4F-49D1-35DB-0404E3F3CD21}"/>
              </a:ext>
            </a:extLst>
          </p:cNvPr>
          <p:cNvSpPr txBox="1"/>
          <p:nvPr/>
        </p:nvSpPr>
        <p:spPr>
          <a:xfrm>
            <a:off x="603849" y="409755"/>
            <a:ext cx="6096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Calibri"/>
                <a:ea typeface="system-ui"/>
                <a:cs typeface="system-ui"/>
              </a:rPr>
              <a:t>Univariate Analysis</a:t>
            </a:r>
          </a:p>
          <a:p>
            <a:pPr algn="ctr"/>
            <a:endParaRPr lang="en-US"/>
          </a:p>
        </p:txBody>
      </p:sp>
      <p:pic>
        <p:nvPicPr>
          <p:cNvPr id="3" name="Picture 2" descr="A graph with a line graph&#10;&#10;AI-generated content may be incorrect.">
            <a:extLst>
              <a:ext uri="{FF2B5EF4-FFF2-40B4-BE49-F238E27FC236}">
                <a16:creationId xmlns:a16="http://schemas.microsoft.com/office/drawing/2014/main" id="{038E5943-2E55-C98B-0A1D-19732DD088C3}"/>
              </a:ext>
            </a:extLst>
          </p:cNvPr>
          <p:cNvPicPr>
            <a:picLocks noChangeAspect="1"/>
          </p:cNvPicPr>
          <p:nvPr/>
        </p:nvPicPr>
        <p:blipFill>
          <a:blip r:embed="rId2"/>
          <a:stretch>
            <a:fillRect/>
          </a:stretch>
        </p:blipFill>
        <p:spPr>
          <a:xfrm>
            <a:off x="980087" y="1264848"/>
            <a:ext cx="4178960" cy="5075925"/>
          </a:xfrm>
          <a:prstGeom prst="rect">
            <a:avLst/>
          </a:prstGeom>
        </p:spPr>
      </p:pic>
      <p:pic>
        <p:nvPicPr>
          <p:cNvPr id="4" name="Picture 3" descr="A green rectangular box plot&#10;&#10;AI-generated content may be incorrect.">
            <a:extLst>
              <a:ext uri="{FF2B5EF4-FFF2-40B4-BE49-F238E27FC236}">
                <a16:creationId xmlns:a16="http://schemas.microsoft.com/office/drawing/2014/main" id="{1F5F9B39-4969-60E9-3EB5-57C3A6C43522}"/>
              </a:ext>
            </a:extLst>
          </p:cNvPr>
          <p:cNvPicPr>
            <a:picLocks noChangeAspect="1"/>
          </p:cNvPicPr>
          <p:nvPr/>
        </p:nvPicPr>
        <p:blipFill>
          <a:blip r:embed="rId3"/>
          <a:stretch>
            <a:fillRect/>
          </a:stretch>
        </p:blipFill>
        <p:spPr>
          <a:xfrm>
            <a:off x="5658120" y="1251639"/>
            <a:ext cx="5534025" cy="4728533"/>
          </a:xfrm>
          <a:prstGeom prst="rect">
            <a:avLst/>
          </a:prstGeom>
        </p:spPr>
      </p:pic>
    </p:spTree>
    <p:extLst>
      <p:ext uri="{BB962C8B-B14F-4D97-AF65-F5344CB8AC3E}">
        <p14:creationId xmlns:p14="http://schemas.microsoft.com/office/powerpoint/2010/main" val="1371134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4C7D1-4A58-C5F0-4109-515CB781A5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22905A-2B64-CCB9-0927-2FDFC601C089}"/>
              </a:ext>
            </a:extLst>
          </p:cNvPr>
          <p:cNvSpPr txBox="1"/>
          <p:nvPr/>
        </p:nvSpPr>
        <p:spPr>
          <a:xfrm>
            <a:off x="301925" y="682925"/>
            <a:ext cx="6455433"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a:t>Univariate Analysis for Numerical Columns</a:t>
            </a:r>
          </a:p>
          <a:p>
            <a:r>
              <a:rPr lang="en-US" b="1"/>
              <a:t>• Variables: Maximum Price</a:t>
            </a:r>
          </a:p>
          <a:p>
            <a:r>
              <a:rPr lang="en-US" b="1"/>
              <a:t>• Plots Used: Violin Plot</a:t>
            </a:r>
          </a:p>
          <a:p>
            <a:r>
              <a:rPr lang="en-US" b="1"/>
              <a:t>• Insights:</a:t>
            </a:r>
          </a:p>
          <a:p>
            <a:r>
              <a:rPr lang="en-US"/>
              <a:t>• The distribution shows a </a:t>
            </a:r>
            <a:r>
              <a:rPr lang="en-US" b="1"/>
              <a:t>wide spread of hotel prices</a:t>
            </a:r>
            <a:r>
              <a:rPr lang="en-US"/>
              <a:t>, with many values concentrated between </a:t>
            </a:r>
            <a:r>
              <a:rPr lang="en-US" b="1"/>
              <a:t>₹4,000 and ₹8,000</a:t>
            </a:r>
            <a:r>
              <a:rPr lang="en-US"/>
              <a:t>, indicating the common mid-range pricing trend in Bali hotels.</a:t>
            </a:r>
          </a:p>
          <a:p>
            <a:r>
              <a:rPr lang="en-US"/>
              <a:t>• The </a:t>
            </a:r>
            <a:r>
              <a:rPr lang="en-US" b="1"/>
              <a:t>upper section of the violin plot is noticeably wider</a:t>
            </a:r>
            <a:r>
              <a:rPr lang="en-US"/>
              <a:t>, showing that a significant number of hotels offer prices in the </a:t>
            </a:r>
            <a:r>
              <a:rPr lang="en-US" b="1"/>
              <a:t>premium range (₹9,000–₹11,000)</a:t>
            </a:r>
            <a:r>
              <a:rPr lang="en-US"/>
              <a:t>.</a:t>
            </a:r>
          </a:p>
          <a:p>
            <a:r>
              <a:rPr lang="en-US"/>
              <a:t>• The presence of a long tail on the lower side indicates that while </a:t>
            </a:r>
            <a:r>
              <a:rPr lang="en-US" b="1"/>
              <a:t>budget hotels exist</a:t>
            </a:r>
            <a:r>
              <a:rPr lang="en-US"/>
              <a:t>, they represent a smaller portion of the dataset.</a:t>
            </a:r>
          </a:p>
          <a:p>
            <a:r>
              <a:rPr lang="en-US"/>
              <a:t>• Overall, the plot highlights </a:t>
            </a:r>
            <a:r>
              <a:rPr lang="en-US" b="1"/>
              <a:t>high price variability</a:t>
            </a:r>
            <a:r>
              <a:rPr lang="en-US"/>
              <a:t>, suggesting Bali caters to both mid-range travelers and luxury-seeking tourists.</a:t>
            </a:r>
          </a:p>
          <a:p>
            <a:pPr algn="ctr"/>
            <a:endParaRPr lang="en-US"/>
          </a:p>
        </p:txBody>
      </p:sp>
      <p:pic>
        <p:nvPicPr>
          <p:cNvPr id="3" name="Picture 2" descr="A graph showing the price of a violin plot&#10;&#10;AI-generated content may be incorrect.">
            <a:extLst>
              <a:ext uri="{FF2B5EF4-FFF2-40B4-BE49-F238E27FC236}">
                <a16:creationId xmlns:a16="http://schemas.microsoft.com/office/drawing/2014/main" id="{C3BAC61F-0AC5-8177-8557-E94397687E84}"/>
              </a:ext>
            </a:extLst>
          </p:cNvPr>
          <p:cNvPicPr>
            <a:picLocks noChangeAspect="1"/>
          </p:cNvPicPr>
          <p:nvPr/>
        </p:nvPicPr>
        <p:blipFill>
          <a:blip r:embed="rId2"/>
          <a:stretch>
            <a:fillRect/>
          </a:stretch>
        </p:blipFill>
        <p:spPr>
          <a:xfrm>
            <a:off x="6089350" y="1074168"/>
            <a:ext cx="5505450" cy="4019550"/>
          </a:xfrm>
          <a:prstGeom prst="rect">
            <a:avLst/>
          </a:prstGeom>
        </p:spPr>
      </p:pic>
    </p:spTree>
    <p:extLst>
      <p:ext uri="{BB962C8B-B14F-4D97-AF65-F5344CB8AC3E}">
        <p14:creationId xmlns:p14="http://schemas.microsoft.com/office/powerpoint/2010/main" val="2591850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02370-5479-7951-D6FA-533E8FDB8680}"/>
            </a:ext>
          </a:extLst>
        </p:cNvPr>
        <p:cNvGrpSpPr/>
        <p:nvPr/>
      </p:nvGrpSpPr>
      <p:grpSpPr>
        <a:xfrm>
          <a:off x="0" y="0"/>
          <a:ext cx="0" cy="0"/>
          <a:chOff x="0" y="0"/>
          <a:chExt cx="0" cy="0"/>
        </a:xfrm>
      </p:grpSpPr>
      <p:pic>
        <p:nvPicPr>
          <p:cNvPr id="3" name="Picture 2" descr="A graph of a hotel&#10;&#10;AI-generated content may be incorrect.">
            <a:extLst>
              <a:ext uri="{FF2B5EF4-FFF2-40B4-BE49-F238E27FC236}">
                <a16:creationId xmlns:a16="http://schemas.microsoft.com/office/drawing/2014/main" id="{FB6EFE14-DAEE-25C8-20D1-6B79F7E2506D}"/>
              </a:ext>
            </a:extLst>
          </p:cNvPr>
          <p:cNvPicPr>
            <a:picLocks noChangeAspect="1"/>
          </p:cNvPicPr>
          <p:nvPr/>
        </p:nvPicPr>
        <p:blipFill>
          <a:blip r:embed="rId2"/>
          <a:stretch>
            <a:fillRect/>
          </a:stretch>
        </p:blipFill>
        <p:spPr>
          <a:xfrm>
            <a:off x="7598709" y="379039"/>
            <a:ext cx="4076700" cy="5629275"/>
          </a:xfrm>
          <a:prstGeom prst="rect">
            <a:avLst/>
          </a:prstGeom>
        </p:spPr>
      </p:pic>
      <p:sp>
        <p:nvSpPr>
          <p:cNvPr id="4" name="TextBox 3">
            <a:extLst>
              <a:ext uri="{FF2B5EF4-FFF2-40B4-BE49-F238E27FC236}">
                <a16:creationId xmlns:a16="http://schemas.microsoft.com/office/drawing/2014/main" id="{4F90469A-D609-E37A-70A8-EEAE51C6EA39}"/>
              </a:ext>
            </a:extLst>
          </p:cNvPr>
          <p:cNvSpPr txBox="1"/>
          <p:nvPr/>
        </p:nvSpPr>
        <p:spPr>
          <a:xfrm>
            <a:off x="445699" y="611038"/>
            <a:ext cx="7174302"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a:t>Univariate Analysis for Categorical Columns</a:t>
            </a:r>
          </a:p>
          <a:p>
            <a:r>
              <a:rPr lang="en-US" b="1"/>
              <a:t>• Variables: Experience Rating</a:t>
            </a:r>
          </a:p>
          <a:p>
            <a:r>
              <a:rPr lang="en-US" b="1"/>
              <a:t>• Plots Used: Bar Chart &amp; Pie Chart</a:t>
            </a:r>
          </a:p>
          <a:p>
            <a:r>
              <a:rPr lang="en-US" b="1"/>
              <a:t>• Insights:</a:t>
            </a:r>
          </a:p>
          <a:p>
            <a:r>
              <a:rPr lang="en-US"/>
              <a:t>• The bar chart shows that </a:t>
            </a:r>
            <a:r>
              <a:rPr lang="en-US" b="1"/>
              <a:t>“Very Good”</a:t>
            </a:r>
            <a:r>
              <a:rPr lang="en-US"/>
              <a:t> is the most common experience rating among Bali hotels, representing </a:t>
            </a:r>
            <a:r>
              <a:rPr lang="en-US" b="1"/>
              <a:t>the majority of listings</a:t>
            </a:r>
            <a:r>
              <a:rPr lang="en-US"/>
              <a:t> in the dataset.</a:t>
            </a:r>
          </a:p>
          <a:p>
            <a:r>
              <a:rPr lang="en-US"/>
              <a:t>• The pie chart highlights that </a:t>
            </a:r>
            <a:r>
              <a:rPr lang="en-US" b="1"/>
              <a:t>68.1%</a:t>
            </a:r>
            <a:r>
              <a:rPr lang="en-US"/>
              <a:t> of hotels fall under the </a:t>
            </a:r>
            <a:r>
              <a:rPr lang="en-US" i="1"/>
              <a:t>Very Good</a:t>
            </a:r>
            <a:r>
              <a:rPr lang="en-US"/>
              <a:t> category, indicating strong overall guest satisfaction across Bali.</a:t>
            </a:r>
          </a:p>
          <a:p>
            <a:r>
              <a:rPr lang="en-US"/>
              <a:t>• Around </a:t>
            </a:r>
            <a:r>
              <a:rPr lang="en-US" b="1"/>
              <a:t>24.3%</a:t>
            </a:r>
            <a:r>
              <a:rPr lang="en-US"/>
              <a:t> of hotels received an </a:t>
            </a:r>
            <a:r>
              <a:rPr lang="en-US" i="1"/>
              <a:t>Excellent</a:t>
            </a:r>
            <a:r>
              <a:rPr lang="en-US"/>
              <a:t> rating, showing that a significant number of properties deliver premium-quality experiences.</a:t>
            </a:r>
          </a:p>
          <a:p>
            <a:r>
              <a:rPr lang="en-US"/>
              <a:t>• Only </a:t>
            </a:r>
            <a:r>
              <a:rPr lang="en-US" b="1"/>
              <a:t>6.6%</a:t>
            </a:r>
            <a:r>
              <a:rPr lang="en-US"/>
              <a:t> of hotels are rated as </a:t>
            </a:r>
            <a:r>
              <a:rPr lang="en-US" i="1"/>
              <a:t>Good</a:t>
            </a:r>
            <a:r>
              <a:rPr lang="en-US"/>
              <a:t>, while *</a:t>
            </a:r>
            <a:r>
              <a:rPr lang="en-US" i="1"/>
              <a:t>Review Score (0.9%)</a:t>
            </a:r>
            <a:r>
              <a:rPr lang="en-US"/>
              <a:t> hotels are minimal, confirming that </a:t>
            </a:r>
            <a:r>
              <a:rPr lang="en-US" b="1"/>
              <a:t>poorly rated hotels are rare</a:t>
            </a:r>
            <a:r>
              <a:rPr lang="en-US"/>
              <a:t> in Bali.</a:t>
            </a:r>
          </a:p>
          <a:p>
            <a:r>
              <a:rPr lang="en-US"/>
              <a:t>• Overall, the rating distribution suggests that </a:t>
            </a:r>
            <a:r>
              <a:rPr lang="en-US" b="1"/>
              <a:t>Bali maintains a high standard of hospitality</a:t>
            </a:r>
            <a:r>
              <a:rPr lang="en-US"/>
              <a:t>, with most hotels offering positive guest experiences.</a:t>
            </a:r>
          </a:p>
          <a:p>
            <a:pPr algn="ctr"/>
            <a:endParaRPr lang="en-US"/>
          </a:p>
        </p:txBody>
      </p:sp>
    </p:spTree>
    <p:extLst>
      <p:ext uri="{BB962C8B-B14F-4D97-AF65-F5344CB8AC3E}">
        <p14:creationId xmlns:p14="http://schemas.microsoft.com/office/powerpoint/2010/main" val="2452887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F0A9A-9817-B74C-5E43-4AF06A92FA21}"/>
            </a:ext>
          </a:extLst>
        </p:cNvPr>
        <p:cNvGrpSpPr/>
        <p:nvPr/>
      </p:nvGrpSpPr>
      <p:grpSpPr>
        <a:xfrm>
          <a:off x="0" y="0"/>
          <a:ext cx="0" cy="0"/>
          <a:chOff x="0" y="0"/>
          <a:chExt cx="0" cy="0"/>
        </a:xfrm>
      </p:grpSpPr>
      <p:pic>
        <p:nvPicPr>
          <p:cNvPr id="2" name="Picture 1" descr="A screenshot of a graph&#10;&#10;AI-generated content may be incorrect.">
            <a:extLst>
              <a:ext uri="{FF2B5EF4-FFF2-40B4-BE49-F238E27FC236}">
                <a16:creationId xmlns:a16="http://schemas.microsoft.com/office/drawing/2014/main" id="{34D0A275-D7E0-002B-A980-0DD6A7AE3684}"/>
              </a:ext>
            </a:extLst>
          </p:cNvPr>
          <p:cNvPicPr>
            <a:picLocks noChangeAspect="1"/>
          </p:cNvPicPr>
          <p:nvPr/>
        </p:nvPicPr>
        <p:blipFill>
          <a:blip r:embed="rId2"/>
          <a:stretch>
            <a:fillRect/>
          </a:stretch>
        </p:blipFill>
        <p:spPr>
          <a:xfrm>
            <a:off x="7664021" y="578060"/>
            <a:ext cx="4361329" cy="5471843"/>
          </a:xfrm>
          <a:prstGeom prst="rect">
            <a:avLst/>
          </a:prstGeom>
        </p:spPr>
      </p:pic>
      <p:sp>
        <p:nvSpPr>
          <p:cNvPr id="3" name="TextBox 2">
            <a:extLst>
              <a:ext uri="{FF2B5EF4-FFF2-40B4-BE49-F238E27FC236}">
                <a16:creationId xmlns:a16="http://schemas.microsoft.com/office/drawing/2014/main" id="{545F9B08-D365-59D6-395A-F88A5D37AF2E}"/>
              </a:ext>
            </a:extLst>
          </p:cNvPr>
          <p:cNvSpPr txBox="1"/>
          <p:nvPr/>
        </p:nvSpPr>
        <p:spPr>
          <a:xfrm>
            <a:off x="235323" y="336177"/>
            <a:ext cx="7306235"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a:t>Bivariate Analysis (Continuous vs Continuous)</a:t>
            </a:r>
          </a:p>
          <a:p>
            <a:r>
              <a:rPr lang="en-US" b="1"/>
              <a:t>• Variables: Rating, Minimum Price, Distance from City Center</a:t>
            </a:r>
          </a:p>
          <a:p>
            <a:r>
              <a:rPr lang="en-US" b="1"/>
              <a:t>• Plots Used: Correlation Heatmap, Scatter Plots</a:t>
            </a:r>
          </a:p>
          <a:p>
            <a:r>
              <a:rPr lang="en-US" b="1"/>
              <a:t>• Insights:</a:t>
            </a:r>
          </a:p>
          <a:p>
            <a:r>
              <a:rPr lang="en-US"/>
              <a:t>• The correlation heatmap shows a </a:t>
            </a:r>
            <a:r>
              <a:rPr lang="en-US" b="1"/>
              <a:t>moderate positive relationship</a:t>
            </a:r>
            <a:r>
              <a:rPr lang="en-US"/>
              <a:t> between </a:t>
            </a:r>
            <a:r>
              <a:rPr lang="en-US" i="1"/>
              <a:t>Rating</a:t>
            </a:r>
            <a:r>
              <a:rPr lang="en-US"/>
              <a:t> and </a:t>
            </a:r>
            <a:r>
              <a:rPr lang="en-US" i="1"/>
              <a:t>Price_Min</a:t>
            </a:r>
            <a:r>
              <a:rPr lang="en-US"/>
              <a:t> (0.37), indicating that higher-rated hotels generally tend to have slightly higher minimum prices.</a:t>
            </a:r>
          </a:p>
          <a:p>
            <a:r>
              <a:rPr lang="en-US"/>
              <a:t>• A strong positive correlation (0.95) exists between </a:t>
            </a:r>
            <a:r>
              <a:rPr lang="en-US" b="1"/>
              <a:t>Minimum Price and Maximum Price</a:t>
            </a:r>
            <a:r>
              <a:rPr lang="en-US"/>
              <a:t>, confirming that hotels priced high at the lower end remain high at the upper end as well.</a:t>
            </a:r>
          </a:p>
          <a:p>
            <a:r>
              <a:rPr lang="en-US"/>
              <a:t>• The scatter plot of </a:t>
            </a:r>
            <a:r>
              <a:rPr lang="en-US" b="1"/>
              <a:t>Rating vs Minimum Price</a:t>
            </a:r>
            <a:r>
              <a:rPr lang="en-US"/>
              <a:t> shows that most hotels with ratings between </a:t>
            </a:r>
            <a:r>
              <a:rPr lang="en-US" b="1"/>
              <a:t>8 and 10</a:t>
            </a:r>
            <a:r>
              <a:rPr lang="en-US"/>
              <a:t> fall in the </a:t>
            </a:r>
            <a:r>
              <a:rPr lang="en-US" b="1"/>
              <a:t>₹2,000–₹6,000</a:t>
            </a:r>
            <a:r>
              <a:rPr lang="en-US"/>
              <a:t> range, suggesting that good-quality hotels are widely available at mid-range prices.</a:t>
            </a:r>
          </a:p>
          <a:p>
            <a:r>
              <a:rPr lang="en-US"/>
              <a:t>• The scatter plot of </a:t>
            </a:r>
            <a:r>
              <a:rPr lang="en-US" b="1"/>
              <a:t>Price vs Distance (km)</a:t>
            </a:r>
            <a:r>
              <a:rPr lang="en-US"/>
              <a:t> indicates </a:t>
            </a:r>
            <a:r>
              <a:rPr lang="en-US" b="1"/>
              <a:t>very weak correlation</a:t>
            </a:r>
            <a:r>
              <a:rPr lang="en-US"/>
              <a:t>, meaning hotel prices in Bali </a:t>
            </a:r>
            <a:r>
              <a:rPr lang="en-US" b="1"/>
              <a:t>do not depend strongly on distance from the city center</a:t>
            </a:r>
            <a:r>
              <a:rPr lang="en-US"/>
              <a:t>. Expensive and budget hotels are found at varying distances.</a:t>
            </a:r>
          </a:p>
          <a:p>
            <a:r>
              <a:rPr lang="en-US"/>
              <a:t>• Overall, the analysis shows that while </a:t>
            </a:r>
            <a:r>
              <a:rPr lang="en-US" b="1"/>
              <a:t>hotel ratings and prices have some relationship</a:t>
            </a:r>
            <a:r>
              <a:rPr lang="en-US"/>
              <a:t>, </a:t>
            </a:r>
            <a:r>
              <a:rPr lang="en-US" b="1"/>
              <a:t>distance does not significantly influence pricing</a:t>
            </a:r>
            <a:r>
              <a:rPr lang="en-US"/>
              <a:t>, making Bali’s hotel market diverse across regions.</a:t>
            </a:r>
          </a:p>
          <a:p>
            <a:pPr algn="ctr"/>
            <a:endParaRPr lang="en-US"/>
          </a:p>
        </p:txBody>
      </p:sp>
    </p:spTree>
    <p:extLst>
      <p:ext uri="{BB962C8B-B14F-4D97-AF65-F5344CB8AC3E}">
        <p14:creationId xmlns:p14="http://schemas.microsoft.com/office/powerpoint/2010/main" val="2435965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71980-AB45-F7B5-7935-106B3B516628}"/>
            </a:ext>
          </a:extLst>
        </p:cNvPr>
        <p:cNvGrpSpPr/>
        <p:nvPr/>
      </p:nvGrpSpPr>
      <p:grpSpPr>
        <a:xfrm>
          <a:off x="0" y="0"/>
          <a:ext cx="0" cy="0"/>
          <a:chOff x="0" y="0"/>
          <a:chExt cx="0" cy="0"/>
        </a:xfrm>
      </p:grpSpPr>
      <p:pic>
        <p:nvPicPr>
          <p:cNvPr id="2" name="Picture 1" descr="A screenshot of a graph&#10;&#10;AI-generated content may be incorrect.">
            <a:extLst>
              <a:ext uri="{FF2B5EF4-FFF2-40B4-BE49-F238E27FC236}">
                <a16:creationId xmlns:a16="http://schemas.microsoft.com/office/drawing/2014/main" id="{EFCFA885-35E8-9408-EF56-A1AB47D922B0}"/>
              </a:ext>
            </a:extLst>
          </p:cNvPr>
          <p:cNvPicPr>
            <a:picLocks noChangeAspect="1"/>
          </p:cNvPicPr>
          <p:nvPr/>
        </p:nvPicPr>
        <p:blipFill>
          <a:blip r:embed="rId2"/>
          <a:stretch>
            <a:fillRect/>
          </a:stretch>
        </p:blipFill>
        <p:spPr>
          <a:xfrm>
            <a:off x="7411571" y="119063"/>
            <a:ext cx="4675094" cy="6070787"/>
          </a:xfrm>
          <a:prstGeom prst="rect">
            <a:avLst/>
          </a:prstGeom>
        </p:spPr>
      </p:pic>
      <p:sp>
        <p:nvSpPr>
          <p:cNvPr id="3" name="TextBox 2">
            <a:extLst>
              <a:ext uri="{FF2B5EF4-FFF2-40B4-BE49-F238E27FC236}">
                <a16:creationId xmlns:a16="http://schemas.microsoft.com/office/drawing/2014/main" id="{93D3659F-760D-FF78-C801-E0B2CC192F57}"/>
              </a:ext>
            </a:extLst>
          </p:cNvPr>
          <p:cNvSpPr txBox="1"/>
          <p:nvPr/>
        </p:nvSpPr>
        <p:spPr>
          <a:xfrm>
            <a:off x="212912" y="123265"/>
            <a:ext cx="7003675" cy="64633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a:t>Bivariate Analysis (Continuous vs Categorical)</a:t>
            </a:r>
          </a:p>
          <a:p>
            <a:r>
              <a:rPr lang="en-US" b="1"/>
              <a:t>• Variables: Experience Rating, Minimum Price, Customer Rating</a:t>
            </a:r>
          </a:p>
          <a:p>
            <a:r>
              <a:rPr lang="en-US" b="1"/>
              <a:t>• Plots Used: Box Plot &amp; Violin Plot</a:t>
            </a:r>
          </a:p>
          <a:p>
            <a:r>
              <a:rPr lang="en-US" b="1"/>
              <a:t>• Insights:</a:t>
            </a:r>
          </a:p>
          <a:p>
            <a:r>
              <a:rPr lang="en-US"/>
              <a:t>• The box plot shows that hotels rated </a:t>
            </a:r>
            <a:r>
              <a:rPr lang="en-US" b="1"/>
              <a:t>“Very Good”</a:t>
            </a:r>
            <a:r>
              <a:rPr lang="en-US"/>
              <a:t> and </a:t>
            </a:r>
            <a:r>
              <a:rPr lang="en-US" b="1"/>
              <a:t>“Excellent”</a:t>
            </a:r>
            <a:r>
              <a:rPr lang="en-US"/>
              <a:t> have the </a:t>
            </a:r>
            <a:r>
              <a:rPr lang="en-US" b="1"/>
              <a:t>highest minimum prices</a:t>
            </a:r>
            <a:r>
              <a:rPr lang="en-US"/>
              <a:t>, indicating these categories attract more premium-priced properties.</a:t>
            </a:r>
          </a:p>
          <a:p>
            <a:r>
              <a:rPr lang="en-US"/>
              <a:t>• Hotels with a </a:t>
            </a:r>
            <a:r>
              <a:rPr lang="en-US" b="1"/>
              <a:t>“Good”</a:t>
            </a:r>
            <a:r>
              <a:rPr lang="en-US"/>
              <a:t> rating show </a:t>
            </a:r>
            <a:r>
              <a:rPr lang="en-US" b="1"/>
              <a:t>lower and more varied price ranges</a:t>
            </a:r>
            <a:r>
              <a:rPr lang="en-US"/>
              <a:t>, suggesting budget-friendly options dominate this segment.</a:t>
            </a:r>
          </a:p>
          <a:p>
            <a:r>
              <a:rPr lang="en-US"/>
              <a:t>• Hotels under </a:t>
            </a:r>
            <a:r>
              <a:rPr lang="en-US" b="1"/>
              <a:t>“Review Score”</a:t>
            </a:r>
            <a:r>
              <a:rPr lang="en-US"/>
              <a:t> have the </a:t>
            </a:r>
            <a:r>
              <a:rPr lang="en-US" b="1"/>
              <a:t>lowest minimum prices</a:t>
            </a:r>
            <a:r>
              <a:rPr lang="en-US"/>
              <a:t>, showing they typically belong to the budget category with limited service quality.</a:t>
            </a:r>
          </a:p>
          <a:p>
            <a:r>
              <a:rPr lang="en-US"/>
              <a:t>• The violin plot displays that </a:t>
            </a:r>
            <a:r>
              <a:rPr lang="en-US" b="1"/>
              <a:t>customer ratings remain consistently high</a:t>
            </a:r>
            <a:r>
              <a:rPr lang="en-US"/>
              <a:t> for </a:t>
            </a:r>
            <a:r>
              <a:rPr lang="en-US" i="1"/>
              <a:t>Very Good</a:t>
            </a:r>
            <a:r>
              <a:rPr lang="en-US"/>
              <a:t> and </a:t>
            </a:r>
            <a:r>
              <a:rPr lang="en-US" i="1"/>
              <a:t>Excellent</a:t>
            </a:r>
            <a:r>
              <a:rPr lang="en-US"/>
              <a:t> categories, centered around score ranges of </a:t>
            </a:r>
            <a:r>
              <a:rPr lang="en-US" b="1"/>
              <a:t>8 to 9.5</a:t>
            </a:r>
            <a:r>
              <a:rPr lang="en-US"/>
              <a:t>.</a:t>
            </a:r>
          </a:p>
          <a:p>
            <a:r>
              <a:rPr lang="en-US"/>
              <a:t>• However, the </a:t>
            </a:r>
            <a:r>
              <a:rPr lang="en-US" b="1"/>
              <a:t>Review Score</a:t>
            </a:r>
            <a:r>
              <a:rPr lang="en-US"/>
              <a:t> category shows a </a:t>
            </a:r>
            <a:r>
              <a:rPr lang="en-US" b="1"/>
              <a:t>much wider spread and lower overall ratings</a:t>
            </a:r>
            <a:r>
              <a:rPr lang="en-US"/>
              <a:t>, indicating significant inconsistency in guest experiences.</a:t>
            </a:r>
          </a:p>
          <a:p>
            <a:r>
              <a:rPr lang="en-US"/>
              <a:t>• Overall, the analysis suggests that </a:t>
            </a:r>
            <a:r>
              <a:rPr lang="en-US" b="1"/>
              <a:t>higher experience ratings are strongly associated with higher minimum prices and more stable customer satisfaction</a:t>
            </a:r>
            <a:r>
              <a:rPr lang="en-US"/>
              <a:t>.</a:t>
            </a:r>
          </a:p>
          <a:p>
            <a:pPr algn="ctr"/>
            <a:endParaRPr lang="en-US"/>
          </a:p>
        </p:txBody>
      </p:sp>
    </p:spTree>
    <p:extLst>
      <p:ext uri="{BB962C8B-B14F-4D97-AF65-F5344CB8AC3E}">
        <p14:creationId xmlns:p14="http://schemas.microsoft.com/office/powerpoint/2010/main" val="581792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85583-F7BE-EAA8-614B-F8727B7006D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6657602-ADEA-BB60-AA53-11BF2FEFE409}"/>
              </a:ext>
            </a:extLst>
          </p:cNvPr>
          <p:cNvPicPr>
            <a:picLocks noChangeAspect="1"/>
          </p:cNvPicPr>
          <p:nvPr/>
        </p:nvPicPr>
        <p:blipFill>
          <a:blip r:embed="rId2"/>
          <a:stretch>
            <a:fillRect/>
          </a:stretch>
        </p:blipFill>
        <p:spPr>
          <a:xfrm>
            <a:off x="7097832" y="1029779"/>
            <a:ext cx="4897468" cy="4812820"/>
          </a:xfrm>
          <a:prstGeom prst="rect">
            <a:avLst/>
          </a:prstGeom>
        </p:spPr>
      </p:pic>
      <p:sp>
        <p:nvSpPr>
          <p:cNvPr id="3" name="TextBox 2">
            <a:extLst>
              <a:ext uri="{FF2B5EF4-FFF2-40B4-BE49-F238E27FC236}">
                <a16:creationId xmlns:a16="http://schemas.microsoft.com/office/drawing/2014/main" id="{5E4F2212-04DE-A694-3D6D-8FA073F5925D}"/>
              </a:ext>
            </a:extLst>
          </p:cNvPr>
          <p:cNvSpPr txBox="1"/>
          <p:nvPr/>
        </p:nvSpPr>
        <p:spPr>
          <a:xfrm>
            <a:off x="0" y="208472"/>
            <a:ext cx="7389962"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a:t>Bivariate Analysis (Categorical vs Categorical)</a:t>
            </a:r>
          </a:p>
          <a:p>
            <a:r>
              <a:rPr lang="en-US" b="1"/>
              <a:t>• Variables: Place (Top 10), Experience Rating</a:t>
            </a:r>
          </a:p>
          <a:p>
            <a:r>
              <a:rPr lang="en-US" b="1"/>
              <a:t>• Plots Used: Stacked Bar Chart</a:t>
            </a:r>
          </a:p>
          <a:p>
            <a:r>
              <a:rPr lang="en-US" b="1"/>
              <a:t>• Insights:</a:t>
            </a:r>
          </a:p>
          <a:p>
            <a:r>
              <a:rPr lang="en-US"/>
              <a:t>• </a:t>
            </a:r>
            <a:r>
              <a:rPr lang="en-US" b="1"/>
              <a:t>Seminyak, Kuta, and Ubud</a:t>
            </a:r>
            <a:r>
              <a:rPr lang="en-US"/>
              <a:t> have the </a:t>
            </a:r>
            <a:r>
              <a:rPr lang="en-US" b="1"/>
              <a:t>highest concentration of hotels</a:t>
            </a:r>
            <a:r>
              <a:rPr lang="en-US"/>
              <a:t>, with Seminyak leading the list, indicating these are the most popular tourist zones in Bali.</a:t>
            </a:r>
          </a:p>
          <a:p>
            <a:r>
              <a:rPr lang="en-US"/>
              <a:t>• Across all top locations, </a:t>
            </a:r>
            <a:r>
              <a:rPr lang="en-US" b="1"/>
              <a:t>“Very Good”</a:t>
            </a:r>
            <a:r>
              <a:rPr lang="en-US"/>
              <a:t> hotels dominate, showing that most hotels consistently deliver high-quality experiences regardless of the area.</a:t>
            </a:r>
          </a:p>
          <a:p>
            <a:r>
              <a:rPr lang="en-US"/>
              <a:t>• </a:t>
            </a:r>
            <a:r>
              <a:rPr lang="en-US" b="1"/>
              <a:t>Excellent-rated hotels</a:t>
            </a:r>
            <a:r>
              <a:rPr lang="en-US"/>
              <a:t> are mostly found in </a:t>
            </a:r>
            <a:r>
              <a:rPr lang="en-US" b="1"/>
              <a:t>Seminyak, Kuta, and Ubud</a:t>
            </a:r>
            <a:r>
              <a:rPr lang="en-US"/>
              <a:t>, highlighting these regions as premium hospitality hubs.</a:t>
            </a:r>
          </a:p>
          <a:p>
            <a:r>
              <a:rPr lang="en-US"/>
              <a:t>• Locations like </a:t>
            </a:r>
            <a:r>
              <a:rPr lang="en-US" b="1"/>
              <a:t>Canggu, Jimbaran, and Uluwatu</a:t>
            </a:r>
            <a:r>
              <a:rPr lang="en-US"/>
              <a:t> have fewer hotels overall but maintain a </a:t>
            </a:r>
            <a:r>
              <a:rPr lang="en-US" b="1"/>
              <a:t>strong proportion of Very Good ratings</a:t>
            </a:r>
            <a:r>
              <a:rPr lang="en-US"/>
              <a:t>, showing reliable service quality despite smaller volume.</a:t>
            </a:r>
          </a:p>
          <a:p>
            <a:r>
              <a:rPr lang="en-US"/>
              <a:t>• </a:t>
            </a:r>
            <a:r>
              <a:rPr lang="en-US" b="1"/>
              <a:t>Review Score</a:t>
            </a:r>
            <a:r>
              <a:rPr lang="en-US"/>
              <a:t> hotels appear in very small numbers across all places, confirming that poorly rated hotels are </a:t>
            </a:r>
            <a:r>
              <a:rPr lang="en-US" b="1"/>
              <a:t>rare in the top tourist regions</a:t>
            </a:r>
            <a:r>
              <a:rPr lang="en-US"/>
              <a:t>.</a:t>
            </a:r>
          </a:p>
          <a:p>
            <a:r>
              <a:rPr lang="en-US"/>
              <a:t>• Overall, the chart indicates that Bali’s major tourist spots not only have more hotels but also maintain </a:t>
            </a:r>
            <a:r>
              <a:rPr lang="en-US" b="1"/>
              <a:t>consistently strong guest experience ratings</a:t>
            </a:r>
            <a:r>
              <a:rPr lang="en-US"/>
              <a:t>, making them highly competitive hospitality markets.</a:t>
            </a:r>
          </a:p>
          <a:p>
            <a:pPr algn="ctr"/>
            <a:endParaRPr lang="en-US"/>
          </a:p>
        </p:txBody>
      </p:sp>
    </p:spTree>
    <p:extLst>
      <p:ext uri="{BB962C8B-B14F-4D97-AF65-F5344CB8AC3E}">
        <p14:creationId xmlns:p14="http://schemas.microsoft.com/office/powerpoint/2010/main" val="4250637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30D10-345E-21C5-30AE-5D2884240253}"/>
            </a:ext>
          </a:extLst>
        </p:cNvPr>
        <p:cNvGrpSpPr/>
        <p:nvPr/>
      </p:nvGrpSpPr>
      <p:grpSpPr>
        <a:xfrm>
          <a:off x="0" y="0"/>
          <a:ext cx="0" cy="0"/>
          <a:chOff x="0" y="0"/>
          <a:chExt cx="0" cy="0"/>
        </a:xfrm>
      </p:grpSpPr>
      <p:pic>
        <p:nvPicPr>
          <p:cNvPr id="4" name="Picture 3" descr="A graph of different colored squares&#10;&#10;AI-generated content may be incorrect.">
            <a:extLst>
              <a:ext uri="{FF2B5EF4-FFF2-40B4-BE49-F238E27FC236}">
                <a16:creationId xmlns:a16="http://schemas.microsoft.com/office/drawing/2014/main" id="{6D77681B-F58E-CFEB-072C-858180F8B6B5}"/>
              </a:ext>
            </a:extLst>
          </p:cNvPr>
          <p:cNvPicPr>
            <a:picLocks noChangeAspect="1"/>
          </p:cNvPicPr>
          <p:nvPr/>
        </p:nvPicPr>
        <p:blipFill>
          <a:blip r:embed="rId2"/>
          <a:stretch>
            <a:fillRect/>
          </a:stretch>
        </p:blipFill>
        <p:spPr>
          <a:xfrm>
            <a:off x="8044940" y="998239"/>
            <a:ext cx="3894648" cy="4257675"/>
          </a:xfrm>
          <a:prstGeom prst="rect">
            <a:avLst/>
          </a:prstGeom>
        </p:spPr>
      </p:pic>
      <p:sp>
        <p:nvSpPr>
          <p:cNvPr id="6" name="TextBox 5">
            <a:extLst>
              <a:ext uri="{FF2B5EF4-FFF2-40B4-BE49-F238E27FC236}">
                <a16:creationId xmlns:a16="http://schemas.microsoft.com/office/drawing/2014/main" id="{E2642B5D-7D80-BAED-448A-5D81034325BE}"/>
              </a:ext>
            </a:extLst>
          </p:cNvPr>
          <p:cNvSpPr txBox="1"/>
          <p:nvPr/>
        </p:nvSpPr>
        <p:spPr>
          <a:xfrm>
            <a:off x="43132" y="7189"/>
            <a:ext cx="7965055"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a:t>Multivariate Analysis</a:t>
            </a:r>
          </a:p>
          <a:p>
            <a:r>
              <a:rPr lang="en-US" b="1"/>
              <a:t>• Variables: Place, Experience Rating, Average Price</a:t>
            </a:r>
          </a:p>
          <a:p>
            <a:r>
              <a:rPr lang="en-US" b="1"/>
              <a:t>• Plots Used: Heatmap (Price vs Rating vs Location)</a:t>
            </a:r>
          </a:p>
          <a:p>
            <a:r>
              <a:rPr lang="en-US" b="1"/>
              <a:t>• Insights:</a:t>
            </a:r>
          </a:p>
          <a:p>
            <a:r>
              <a:rPr lang="en-US"/>
              <a:t>• The heatmap shows that </a:t>
            </a:r>
            <a:r>
              <a:rPr lang="en-US" b="1"/>
              <a:t>premium tourist areas</a:t>
            </a:r>
            <a:r>
              <a:rPr lang="en-US"/>
              <a:t> like </a:t>
            </a:r>
            <a:r>
              <a:rPr lang="en-US" b="1"/>
              <a:t>Nusa Dua, Seminyak, Jimbaran, and Ubud</a:t>
            </a:r>
            <a:r>
              <a:rPr lang="en-US"/>
              <a:t> have the </a:t>
            </a:r>
            <a:r>
              <a:rPr lang="en-US" b="1"/>
              <a:t>highest hotel prices</a:t>
            </a:r>
            <a:r>
              <a:rPr lang="en-US"/>
              <a:t> across all experience rating categories.</a:t>
            </a:r>
          </a:p>
          <a:p>
            <a:r>
              <a:rPr lang="en-US"/>
              <a:t>• Locations such as </a:t>
            </a:r>
            <a:r>
              <a:rPr lang="en-US" b="1"/>
              <a:t>Canggu, Denpasar, Kerobokan, and Sanur</a:t>
            </a:r>
            <a:r>
              <a:rPr lang="en-US"/>
              <a:t> show </a:t>
            </a:r>
            <a:r>
              <a:rPr lang="en-US" b="1"/>
              <a:t>moderate pricing</a:t>
            </a:r>
            <a:r>
              <a:rPr lang="en-US"/>
              <a:t>, suggesting they cater to both mid-range and premium travelers.</a:t>
            </a:r>
          </a:p>
          <a:p>
            <a:r>
              <a:rPr lang="en-US"/>
              <a:t>• </a:t>
            </a:r>
            <a:r>
              <a:rPr lang="en-US" b="1"/>
              <a:t>Excellent-rated hotels</a:t>
            </a:r>
            <a:r>
              <a:rPr lang="en-US"/>
              <a:t> in </a:t>
            </a:r>
            <a:r>
              <a:rPr lang="en-US" b="1"/>
              <a:t>Nusa Dua, Seminyak, and Ubud</a:t>
            </a:r>
            <a:r>
              <a:rPr lang="en-US"/>
              <a:t> consistently show </a:t>
            </a:r>
            <a:r>
              <a:rPr lang="en-US" b="1"/>
              <a:t>very high average prices</a:t>
            </a:r>
            <a:r>
              <a:rPr lang="en-US"/>
              <a:t>, reflecting their reputation for luxury stays.</a:t>
            </a:r>
          </a:p>
          <a:p>
            <a:r>
              <a:rPr lang="en-US"/>
              <a:t>• </a:t>
            </a:r>
            <a:r>
              <a:rPr lang="en-US" b="1"/>
              <a:t>Very Good–rated hotels</a:t>
            </a:r>
            <a:r>
              <a:rPr lang="en-US"/>
              <a:t> display a wider price range across different locations, indicating that this category includes both affordable and high-end properties.</a:t>
            </a:r>
          </a:p>
          <a:p>
            <a:r>
              <a:rPr lang="en-US"/>
              <a:t>• Places like </a:t>
            </a:r>
            <a:r>
              <a:rPr lang="en-US" b="1"/>
              <a:t>Amed Beach, Bali, and Tejakula</a:t>
            </a:r>
            <a:r>
              <a:rPr lang="en-US"/>
              <a:t> are more </a:t>
            </a:r>
            <a:r>
              <a:rPr lang="en-US" b="1"/>
              <a:t>budget-friendly</a:t>
            </a:r>
            <a:r>
              <a:rPr lang="en-US"/>
              <a:t>, appearing lighter on the heatmap, especially in the “Good” and “Very Good” categories.</a:t>
            </a:r>
          </a:p>
          <a:p>
            <a:r>
              <a:rPr lang="en-US"/>
              <a:t>• </a:t>
            </a:r>
            <a:r>
              <a:rPr lang="en-US" b="1"/>
              <a:t>Review Score</a:t>
            </a:r>
            <a:r>
              <a:rPr lang="en-US"/>
              <a:t> hotels show low representation and much </a:t>
            </a:r>
            <a:r>
              <a:rPr lang="en-US" b="1"/>
              <a:t>lower prices</a:t>
            </a:r>
            <a:r>
              <a:rPr lang="en-US"/>
              <a:t> across all locations, confirming their position in the budget segment.</a:t>
            </a:r>
          </a:p>
          <a:p>
            <a:r>
              <a:rPr lang="en-US"/>
              <a:t>• Overall, the heatmap emphasizes that </a:t>
            </a:r>
            <a:r>
              <a:rPr lang="en-US" b="1"/>
              <a:t>hotel pricing in Bali strongly depends on both location and experience rating</a:t>
            </a:r>
            <a:r>
              <a:rPr lang="en-US"/>
              <a:t>, with certain areas consistently commanding premium pricing.</a:t>
            </a:r>
          </a:p>
          <a:p>
            <a:pPr algn="ctr"/>
            <a:endParaRPr lang="en-US"/>
          </a:p>
        </p:txBody>
      </p:sp>
    </p:spTree>
    <p:extLst>
      <p:ext uri="{BB962C8B-B14F-4D97-AF65-F5344CB8AC3E}">
        <p14:creationId xmlns:p14="http://schemas.microsoft.com/office/powerpoint/2010/main" val="1052313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7CE6F-BE5F-D6A1-3C66-C9CF753F7BF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847123-3634-0471-26B1-93F5204458A8}"/>
              </a:ext>
            </a:extLst>
          </p:cNvPr>
          <p:cNvSpPr txBox="1">
            <a:spLocks noGrp="1"/>
          </p:cNvSpPr>
          <p:nvPr>
            <p:ph type="body" idx="1"/>
          </p:nvPr>
        </p:nvSpPr>
        <p:spPr>
          <a:xfrm>
            <a:off x="684837" y="1277042"/>
            <a:ext cx="9614626" cy="4814138"/>
          </a:xfrm>
          <a:prstGeom prst="rect">
            <a:avLst/>
          </a:prstGeom>
        </p:spPr>
        <p:txBody>
          <a:bodyPr vert="horz" wrap="square" lIns="0" tIns="12700" rIns="0" bIns="0" rtlCol="0" anchor="t">
            <a:spAutoFit/>
          </a:bodyPr>
          <a:lstStyle/>
          <a:p>
            <a:pPr algn="l">
              <a:buFont typeface="Arial"/>
              <a:buChar char="•"/>
            </a:pPr>
            <a:r>
              <a:rPr lang="en-US" b="0" spc="-10" dirty="0"/>
              <a:t>Bali’s most popular hotel regions like </a:t>
            </a:r>
            <a:r>
              <a:rPr lang="en-US" spc="-10" dirty="0" err="1"/>
              <a:t>Seminyak</a:t>
            </a:r>
            <a:r>
              <a:rPr lang="en-US" spc="-10" dirty="0"/>
              <a:t>, Kuta, and </a:t>
            </a:r>
            <a:r>
              <a:rPr lang="en-US" spc="-10" dirty="0" err="1"/>
              <a:t>Ubud</a:t>
            </a:r>
            <a:r>
              <a:rPr lang="en-US" b="0" spc="-10" dirty="0"/>
              <a:t> have the highest number of hotels.</a:t>
            </a:r>
            <a:endParaRPr lang="en-US" dirty="0"/>
          </a:p>
          <a:p>
            <a:pPr algn="l">
              <a:buFont typeface="Arial"/>
              <a:buChar char="•"/>
            </a:pPr>
            <a:r>
              <a:rPr lang="en-US" spc="-10" dirty="0"/>
              <a:t>Very Good</a:t>
            </a:r>
            <a:r>
              <a:rPr lang="en-US" b="0" spc="-10" dirty="0"/>
              <a:t> is the most common rating, showing consistently high service standards across Bali.</a:t>
            </a:r>
            <a:endParaRPr lang="en-US" dirty="0"/>
          </a:p>
          <a:p>
            <a:pPr algn="l">
              <a:buFont typeface="Arial"/>
              <a:buChar char="•"/>
            </a:pPr>
            <a:r>
              <a:rPr lang="en-US" b="0" spc="-10" dirty="0"/>
              <a:t>Higher-rated hotels tend to have </a:t>
            </a:r>
            <a:r>
              <a:rPr lang="en-US" spc="-10" dirty="0"/>
              <a:t>higher minimum prices</a:t>
            </a:r>
            <a:r>
              <a:rPr lang="en-US" b="0" spc="-10" dirty="0"/>
              <a:t>, especially in premium locations.</a:t>
            </a:r>
            <a:endParaRPr lang="en-US" dirty="0"/>
          </a:p>
          <a:p>
            <a:pPr algn="l">
              <a:buFont typeface="Arial"/>
              <a:buChar char="•"/>
            </a:pPr>
            <a:r>
              <a:rPr lang="en-US" b="0" spc="-10" dirty="0"/>
              <a:t>Price variation is influenced more by </a:t>
            </a:r>
            <a:r>
              <a:rPr lang="en-US" spc="-10" dirty="0"/>
              <a:t>location and experience rating</a:t>
            </a:r>
            <a:r>
              <a:rPr lang="en-US" b="0" spc="-10" dirty="0"/>
              <a:t> than by distance from the city center.</a:t>
            </a:r>
            <a:endParaRPr lang="en-US" dirty="0"/>
          </a:p>
          <a:p>
            <a:pPr algn="l">
              <a:buFont typeface="Arial"/>
              <a:buChar char="•"/>
            </a:pPr>
            <a:r>
              <a:rPr lang="en-US" b="0" spc="-10" dirty="0"/>
              <a:t>Budget hotels are available but form a </a:t>
            </a:r>
            <a:r>
              <a:rPr lang="en-US" spc="-10" dirty="0"/>
              <a:t>very small proportion</a:t>
            </a:r>
            <a:r>
              <a:rPr lang="en-US" b="0" spc="-10" dirty="0"/>
              <a:t> of the total listings.</a:t>
            </a:r>
            <a:endParaRPr lang="en-US" dirty="0"/>
          </a:p>
          <a:p>
            <a:pPr algn="l">
              <a:buFont typeface="Arial"/>
              <a:buChar char="•"/>
            </a:pPr>
            <a:r>
              <a:rPr lang="en-US" b="0" spc="-10" dirty="0"/>
              <a:t>Premium tourist spots like </a:t>
            </a:r>
            <a:r>
              <a:rPr lang="en-US" spc="-10" dirty="0"/>
              <a:t>Nusa Dua, Jimbaran, and </a:t>
            </a:r>
            <a:r>
              <a:rPr lang="en-US" spc="-10" dirty="0" err="1"/>
              <a:t>Seminyak</a:t>
            </a:r>
            <a:r>
              <a:rPr lang="en-US" b="0" spc="-10" dirty="0"/>
              <a:t> consistently show </a:t>
            </a:r>
            <a:r>
              <a:rPr lang="en-US" spc="-10" dirty="0"/>
              <a:t>higher prices</a:t>
            </a:r>
            <a:r>
              <a:rPr lang="en-US" b="0" spc="-10" dirty="0"/>
              <a:t> across rating categories.</a:t>
            </a:r>
            <a:endParaRPr lang="en-US" dirty="0"/>
          </a:p>
          <a:p>
            <a:pPr marL="342900" indent="-342900" algn="l">
              <a:buFont typeface="Arial"/>
              <a:buChar char="•"/>
            </a:pPr>
            <a:endParaRPr lang="en-US" b="0" spc="-10" dirty="0"/>
          </a:p>
        </p:txBody>
      </p:sp>
      <p:sp>
        <p:nvSpPr>
          <p:cNvPr id="3" name="object 3">
            <a:extLst>
              <a:ext uri="{FF2B5EF4-FFF2-40B4-BE49-F238E27FC236}">
                <a16:creationId xmlns:a16="http://schemas.microsoft.com/office/drawing/2014/main" id="{593EAD7B-C6FC-C462-75FD-00A81DF75F96}"/>
              </a:ext>
            </a:extLst>
          </p:cNvPr>
          <p:cNvSpPr txBox="1">
            <a:spLocks noGrp="1"/>
          </p:cNvSpPr>
          <p:nvPr>
            <p:ph type="title"/>
          </p:nvPr>
        </p:nvSpPr>
        <p:spPr>
          <a:xfrm>
            <a:off x="985341" y="228663"/>
            <a:ext cx="3694287" cy="551433"/>
          </a:xfrm>
          <a:prstGeom prst="rect">
            <a:avLst/>
          </a:prstGeom>
        </p:spPr>
        <p:txBody>
          <a:bodyPr vert="horz" wrap="square" lIns="0" tIns="12700" rIns="0" bIns="0" rtlCol="0" anchor="t">
            <a:spAutoFit/>
          </a:bodyPr>
          <a:lstStyle/>
          <a:p>
            <a:pPr marL="12700">
              <a:spcBef>
                <a:spcPts val="100"/>
              </a:spcBef>
            </a:pPr>
            <a:r>
              <a:rPr lang="en-US" sz="3500" b="0" spc="-215" dirty="0">
                <a:latin typeface="Arial Black"/>
                <a:cs typeface="Arial Black"/>
              </a:rPr>
              <a:t>Key Insights</a:t>
            </a:r>
            <a:r>
              <a:rPr sz="3500" b="0" spc="-215" dirty="0">
                <a:latin typeface="Arial Black"/>
                <a:cs typeface="Arial Black"/>
              </a:rPr>
              <a:t>:</a:t>
            </a:r>
            <a:endParaRPr sz="3500" dirty="0">
              <a:latin typeface="Arial Black"/>
              <a:cs typeface="Arial Black"/>
            </a:endParaRPr>
          </a:p>
        </p:txBody>
      </p:sp>
    </p:spTree>
    <p:extLst>
      <p:ext uri="{BB962C8B-B14F-4D97-AF65-F5344CB8AC3E}">
        <p14:creationId xmlns:p14="http://schemas.microsoft.com/office/powerpoint/2010/main" val="3471097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B96EC-1E6F-A506-2440-278407EDD3F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177152-B441-27C6-F3CC-B5BACFDFF03E}"/>
              </a:ext>
            </a:extLst>
          </p:cNvPr>
          <p:cNvSpPr txBox="1">
            <a:spLocks noGrp="1"/>
          </p:cNvSpPr>
          <p:nvPr>
            <p:ph type="body" idx="1"/>
          </p:nvPr>
        </p:nvSpPr>
        <p:spPr>
          <a:xfrm>
            <a:off x="526686" y="1507080"/>
            <a:ext cx="10545136" cy="4629472"/>
          </a:xfrm>
          <a:prstGeom prst="rect">
            <a:avLst/>
          </a:prstGeom>
        </p:spPr>
        <p:txBody>
          <a:bodyPr vert="horz" wrap="square" lIns="0" tIns="12700" rIns="0" bIns="0" rtlCol="0" anchor="t">
            <a:spAutoFit/>
          </a:bodyPr>
          <a:lstStyle/>
          <a:p>
            <a:pPr algn="just">
              <a:buFont typeface="Arial"/>
              <a:buChar char="•"/>
            </a:pPr>
            <a:r>
              <a:rPr lang="en-US" b="0" spc="-10" dirty="0"/>
              <a:t>Inconsistent formatting in hotel names, locations, and categories caused difficulty in standardizing text data.</a:t>
            </a:r>
            <a:endParaRPr lang="en-US" dirty="0"/>
          </a:p>
          <a:p>
            <a:pPr algn="just">
              <a:buFont typeface="Arial"/>
              <a:buChar char="•"/>
            </a:pPr>
            <a:r>
              <a:rPr lang="en-US" b="0" spc="-10" dirty="0"/>
              <a:t>Missing or incomplete values in price, rating, and reviews required additional cleaning steps.</a:t>
            </a:r>
            <a:endParaRPr lang="en-US" dirty="0"/>
          </a:p>
          <a:p>
            <a:pPr algn="just">
              <a:buFont typeface="Arial"/>
              <a:buChar char="•"/>
            </a:pPr>
            <a:r>
              <a:rPr lang="en-US" b="0" spc="-10" dirty="0"/>
              <a:t>Duplicate hotel entries across pages made it challenging to maintain dataset accuracy.</a:t>
            </a:r>
            <a:endParaRPr lang="en-US" dirty="0"/>
          </a:p>
          <a:p>
            <a:pPr algn="just">
              <a:buFont typeface="Arial"/>
              <a:buChar char="•"/>
            </a:pPr>
            <a:r>
              <a:rPr lang="en-US" b="0" spc="-10" dirty="0"/>
              <a:t>Different currency formats and symbols made converting prices into numeric values difficult.</a:t>
            </a:r>
            <a:endParaRPr lang="en-US" dirty="0"/>
          </a:p>
          <a:p>
            <a:pPr algn="just">
              <a:buFont typeface="Arial"/>
              <a:buChar char="•"/>
            </a:pPr>
            <a:r>
              <a:rPr lang="en-US" b="0" spc="-10" dirty="0"/>
              <a:t>Dynamic website structure occasionally interrupted the scraping process and caused extraction errors.</a:t>
            </a:r>
            <a:endParaRPr lang="en-US" dirty="0"/>
          </a:p>
          <a:p>
            <a:pPr algn="just">
              <a:buFont typeface="Arial"/>
              <a:buChar char="•"/>
            </a:pPr>
            <a:r>
              <a:rPr lang="en-US" b="0" spc="-10" dirty="0"/>
              <a:t>Large variation in hotel prices across regions made detecting outliers more complex.</a:t>
            </a:r>
            <a:endParaRPr lang="en-US" dirty="0"/>
          </a:p>
          <a:p>
            <a:pPr marL="285750" indent="-285750" algn="just">
              <a:lnSpc>
                <a:spcPct val="150000"/>
              </a:lnSpc>
              <a:buFont typeface="Arial"/>
              <a:buChar char="•"/>
            </a:pPr>
            <a:endParaRPr lang="en-US" b="0" spc="-10" dirty="0"/>
          </a:p>
          <a:p>
            <a:pPr algn="l"/>
            <a:endParaRPr lang="en-US" b="0" spc="-10" dirty="0"/>
          </a:p>
        </p:txBody>
      </p:sp>
      <p:sp>
        <p:nvSpPr>
          <p:cNvPr id="3" name="object 3">
            <a:extLst>
              <a:ext uri="{FF2B5EF4-FFF2-40B4-BE49-F238E27FC236}">
                <a16:creationId xmlns:a16="http://schemas.microsoft.com/office/drawing/2014/main" id="{D921900E-3E2D-BCAA-0F58-6C226E898F28}"/>
              </a:ext>
            </a:extLst>
          </p:cNvPr>
          <p:cNvSpPr txBox="1">
            <a:spLocks noGrp="1"/>
          </p:cNvSpPr>
          <p:nvPr>
            <p:ph type="title"/>
          </p:nvPr>
        </p:nvSpPr>
        <p:spPr>
          <a:xfrm>
            <a:off x="1041370" y="721722"/>
            <a:ext cx="4075287" cy="551433"/>
          </a:xfrm>
          <a:prstGeom prst="rect">
            <a:avLst/>
          </a:prstGeom>
        </p:spPr>
        <p:txBody>
          <a:bodyPr vert="horz" wrap="square" lIns="0" tIns="12700" rIns="0" bIns="0" rtlCol="0" anchor="t">
            <a:spAutoFit/>
          </a:bodyPr>
          <a:lstStyle/>
          <a:p>
            <a:pPr marL="12700">
              <a:spcBef>
                <a:spcPts val="100"/>
              </a:spcBef>
            </a:pPr>
            <a:r>
              <a:rPr lang="en-US" sz="3500" b="0" spc="-215" dirty="0">
                <a:latin typeface="Arial Black"/>
                <a:cs typeface="Arial Black"/>
              </a:rPr>
              <a:t>Challenges:</a:t>
            </a:r>
          </a:p>
        </p:txBody>
      </p:sp>
    </p:spTree>
    <p:extLst>
      <p:ext uri="{BB962C8B-B14F-4D97-AF65-F5344CB8AC3E}">
        <p14:creationId xmlns:p14="http://schemas.microsoft.com/office/powerpoint/2010/main" val="175357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A8BE24-AEAE-7F41-D25C-6CC376996537}"/>
              </a:ext>
            </a:extLst>
          </p:cNvPr>
          <p:cNvSpPr txBox="1"/>
          <p:nvPr/>
        </p:nvSpPr>
        <p:spPr>
          <a:xfrm>
            <a:off x="661358" y="438509"/>
            <a:ext cx="7893169"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Learnings (from your project experience)</a:t>
            </a:r>
          </a:p>
          <a:p>
            <a:pPr marL="228600" indent="-228600">
              <a:buFont typeface=""/>
              <a:buChar char="•"/>
            </a:pPr>
            <a:r>
              <a:rPr lang="en-US"/>
              <a:t>Learned how to perform </a:t>
            </a:r>
            <a:r>
              <a:rPr lang="en-US" b="1"/>
              <a:t>web scraping</a:t>
            </a:r>
            <a:r>
              <a:rPr lang="en-US"/>
              <a:t> using BeautifulSoup and Requests.</a:t>
            </a:r>
          </a:p>
          <a:p>
            <a:pPr marL="228600" indent="-228600">
              <a:buFont typeface=""/>
              <a:buChar char="•"/>
            </a:pPr>
            <a:r>
              <a:rPr lang="en-US"/>
              <a:t>Understood how to handle </a:t>
            </a:r>
            <a:r>
              <a:rPr lang="en-US" b="1"/>
              <a:t>missing data, duplicates, and inconsistent formatting</a:t>
            </a:r>
            <a:r>
              <a:rPr lang="en-US"/>
              <a:t> in real-world datasets.</a:t>
            </a:r>
          </a:p>
          <a:p>
            <a:pPr marL="228600" indent="-228600">
              <a:buFont typeface=""/>
              <a:buChar char="•"/>
            </a:pPr>
            <a:r>
              <a:rPr lang="en-US"/>
              <a:t>Improved skills in </a:t>
            </a:r>
            <a:r>
              <a:rPr lang="en-US" b="1"/>
              <a:t>exploratory data analysis (EDA)</a:t>
            </a:r>
            <a:r>
              <a:rPr lang="en-US"/>
              <a:t> and identifying patterns in visualizations.</a:t>
            </a:r>
          </a:p>
          <a:p>
            <a:pPr marL="228600" indent="-228600">
              <a:buFont typeface=""/>
              <a:buChar char="•"/>
            </a:pPr>
            <a:r>
              <a:rPr lang="en-US"/>
              <a:t>Learned to use </a:t>
            </a:r>
            <a:r>
              <a:rPr lang="en-US" b="1"/>
              <a:t>heatmaps, violin plots, boxplots, and scatter plots</a:t>
            </a:r>
            <a:r>
              <a:rPr lang="en-US"/>
              <a:t> to extract meaningful insights.</a:t>
            </a:r>
          </a:p>
          <a:p>
            <a:pPr marL="228600" indent="-228600">
              <a:buFont typeface=""/>
              <a:buChar char="•"/>
            </a:pPr>
            <a:r>
              <a:rPr lang="en-US"/>
              <a:t>Gained experience in </a:t>
            </a:r>
            <a:r>
              <a:rPr lang="en-US" b="1"/>
              <a:t>cleaning numerical and categorical data</a:t>
            </a:r>
            <a:r>
              <a:rPr lang="en-US"/>
              <a:t> to prepare it for analysis.</a:t>
            </a:r>
          </a:p>
          <a:p>
            <a:pPr marL="228600" indent="-228600">
              <a:buFont typeface=""/>
              <a:buChar char="•"/>
            </a:pPr>
            <a:r>
              <a:rPr lang="en-US"/>
              <a:t>Strengthened understanding of how </a:t>
            </a:r>
            <a:r>
              <a:rPr lang="en-US" b="1"/>
              <a:t>pricing, ratings, and location</a:t>
            </a:r>
            <a:r>
              <a:rPr lang="en-US"/>
              <a:t> affect hotel performance.</a:t>
            </a:r>
          </a:p>
          <a:p>
            <a:pPr algn="ctr"/>
            <a:endParaRPr lang="en-US"/>
          </a:p>
        </p:txBody>
      </p:sp>
    </p:spTree>
    <p:extLst>
      <p:ext uri="{BB962C8B-B14F-4D97-AF65-F5344CB8AC3E}">
        <p14:creationId xmlns:p14="http://schemas.microsoft.com/office/powerpoint/2010/main" val="1621734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684837" y="940865"/>
            <a:ext cx="10732676" cy="3336811"/>
          </a:xfrm>
          <a:prstGeom prst="rect">
            <a:avLst/>
          </a:prstGeom>
        </p:spPr>
        <p:txBody>
          <a:bodyPr vert="horz" wrap="square" lIns="0" tIns="12700" rIns="0" bIns="0" rtlCol="0" anchor="t">
            <a:spAutoFit/>
          </a:bodyPr>
          <a:lstStyle/>
          <a:p>
            <a:pPr algn="just">
              <a:buFont typeface="Arial"/>
              <a:buChar char="•"/>
            </a:pPr>
            <a:r>
              <a:rPr lang="en-US" b="0" spc="-10" dirty="0"/>
              <a:t>The Exploratory Data Analysis (EDA) of Bali hotels shows that Bali’s hospitality industry delivers consistent quality across all hotel segments.</a:t>
            </a:r>
          </a:p>
          <a:p>
            <a:pPr algn="just">
              <a:buFont typeface="Arial"/>
              <a:buChar char="•"/>
            </a:pPr>
            <a:r>
              <a:rPr lang="en-US" b="0" spc="-10"/>
              <a:t>Most hotels maintain high ratings regardless of price, and the market is dominated by mid-range hotels offering affordable luxury.</a:t>
            </a:r>
            <a:endParaRPr lang="en-US"/>
          </a:p>
          <a:p>
            <a:pPr algn="just">
              <a:buFont typeface="Arial"/>
              <a:buChar char="•"/>
            </a:pPr>
            <a:r>
              <a:rPr lang="en-US" b="0" spc="-10"/>
              <a:t>Price is more influenced by location than by customer satisfaction — hotels in Seminyak and Ubud are premium, while Kuta and Legian provide budget-friendly excellence.</a:t>
            </a:r>
            <a:endParaRPr lang="en-US"/>
          </a:p>
          <a:p>
            <a:pPr algn="just">
              <a:buFont typeface="Arial"/>
              <a:buChar char="•"/>
            </a:pPr>
            <a:r>
              <a:rPr lang="en-US" b="0" spc="-10" dirty="0"/>
              <a:t>Overall, Bali’s hotel industry is competitive, customer-focused, and maintains a high global standard. </a:t>
            </a:r>
            <a:endParaRPr lang="en-US" dirty="0"/>
          </a:p>
        </p:txBody>
      </p:sp>
      <p:sp>
        <p:nvSpPr>
          <p:cNvPr id="3" name="object 3"/>
          <p:cNvSpPr txBox="1">
            <a:spLocks noGrp="1"/>
          </p:cNvSpPr>
          <p:nvPr>
            <p:ph type="title"/>
          </p:nvPr>
        </p:nvSpPr>
        <p:spPr>
          <a:xfrm>
            <a:off x="985341" y="228663"/>
            <a:ext cx="2522855" cy="558800"/>
          </a:xfrm>
          <a:prstGeom prst="rect">
            <a:avLst/>
          </a:prstGeom>
        </p:spPr>
        <p:txBody>
          <a:bodyPr vert="horz" wrap="square" lIns="0" tIns="12700" rIns="0" bIns="0" rtlCol="0">
            <a:spAutoFit/>
          </a:bodyPr>
          <a:lstStyle/>
          <a:p>
            <a:pPr marL="12700">
              <a:lnSpc>
                <a:spcPct val="100000"/>
              </a:lnSpc>
              <a:spcBef>
                <a:spcPts val="100"/>
              </a:spcBef>
            </a:pPr>
            <a:r>
              <a:rPr sz="3500" b="0" spc="-215" dirty="0">
                <a:latin typeface="Arial Black"/>
                <a:cs typeface="Arial Black"/>
              </a:rPr>
              <a:t>conclusion:</a:t>
            </a:r>
            <a:endParaRPr sz="3500">
              <a:latin typeface="Arial Black"/>
              <a:cs typeface="Arial Black"/>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991100" y="1714500"/>
            <a:ext cx="4467224" cy="2838449"/>
          </a:xfrm>
          <a:prstGeom prst="rect">
            <a:avLst/>
          </a:prstGeom>
        </p:spPr>
      </p:pic>
      <p:sp>
        <p:nvSpPr>
          <p:cNvPr id="3" name="object 3"/>
          <p:cNvSpPr txBox="1">
            <a:spLocks noGrp="1"/>
          </p:cNvSpPr>
          <p:nvPr>
            <p:ph type="title"/>
          </p:nvPr>
        </p:nvSpPr>
        <p:spPr>
          <a:xfrm>
            <a:off x="1369948" y="2129183"/>
            <a:ext cx="2240915" cy="1367790"/>
          </a:xfrm>
          <a:prstGeom prst="rect">
            <a:avLst/>
          </a:prstGeom>
        </p:spPr>
        <p:txBody>
          <a:bodyPr vert="horz" wrap="square" lIns="0" tIns="33655" rIns="0" bIns="0" rtlCol="0">
            <a:spAutoFit/>
          </a:bodyPr>
          <a:lstStyle/>
          <a:p>
            <a:pPr marL="12700" marR="5080">
              <a:lnSpc>
                <a:spcPts val="5250"/>
              </a:lnSpc>
              <a:spcBef>
                <a:spcPts val="265"/>
              </a:spcBef>
            </a:pPr>
            <a:r>
              <a:rPr sz="4400" b="0" spc="125" dirty="0">
                <a:solidFill>
                  <a:srgbClr val="BF0000"/>
                </a:solidFill>
                <a:latin typeface="Palatino Linotype"/>
                <a:cs typeface="Palatino Linotype"/>
              </a:rPr>
              <a:t>THANK </a:t>
            </a:r>
            <a:r>
              <a:rPr sz="4400" b="0" spc="85" dirty="0">
                <a:solidFill>
                  <a:srgbClr val="BF0000"/>
                </a:solidFill>
                <a:latin typeface="Palatino Linotype"/>
                <a:cs typeface="Palatino Linotype"/>
              </a:rPr>
              <a:t>YOU</a:t>
            </a:r>
            <a:endParaRPr sz="4400">
              <a:latin typeface="Palatino Linotype"/>
              <a:cs typeface="Palatino Linotyp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20</Slides>
  <Notes>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Problem Statement:</vt:lpstr>
      <vt:lpstr>PowerPoint Presentation</vt:lpstr>
      <vt:lpstr>Web Scraping Process: Selected Website – Collected Bali hotel data from a travel website containing hotel listings, prices, ratings, reviews, and locations. Checked Website Structure – Inspected HTML elements to locate hotel name, price per night, rating, location, and review count. Scraped Data – Used BeautifulSoup and Requests to extract hotel information from multiple pages. Stored Data – Saved extracted details in a Pandas DataFrame for further processing. Cleaned Data – Removed duplicates, handled missing values, formatted price fields, and standardized text data for EDA.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Insights:</vt:lpstr>
      <vt:lpstr>Challenges:</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Grocery sql ppt.pdf</dc:title>
  <dc:creator>Naveen Pichuka</dc:creator>
  <cp:keywords>DAG5ZThQArc,BAG5UATYSZ4,0</cp:keywords>
  <cp:revision>1028</cp:revision>
  <dcterms:created xsi:type="dcterms:W3CDTF">2025-11-23T06:04:07Z</dcterms:created>
  <dcterms:modified xsi:type="dcterms:W3CDTF">2025-11-28T05:21:39Z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2025-11-22T00:00:00Z</vt:filetime>
  </property>
  <property fmtid="{D5CDD505-2E9C-101B-9397-08002B2CF9AE}" pid="3" name="Creator">
    <vt:lpwstr>Canva</vt:lpwstr>
  </property>
  <property fmtid="{D5CDD505-2E9C-101B-9397-08002B2CF9AE}" pid="4" name="LastSaved">
    <vt:filetime>2025-11-23T00:00:00Z</vt:filetime>
  </property>
  <property fmtid="{D5CDD505-2E9C-101B-9397-08002B2CF9AE}" pid="5" name="Producer">
    <vt:lpwstr>Canva</vt:lpwstr>
  </property>
</Properties>
</file>